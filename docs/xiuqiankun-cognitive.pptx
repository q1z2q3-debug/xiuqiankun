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21"/>
  </p:notesMasterIdLst>
  <p:sldIdLst>
    <p:sldId id="256" r:id="rId3"/>
    <p:sldId id="257" r:id="rId4"/>
    <p:sldId id="261" r:id="rId5"/>
    <p:sldId id="12892" r:id="rId26"/>
    <p:sldId id="12893" r:id="rId27"/>
    <p:sldId id="12894" r:id="rId28"/>
    <p:sldId id="12895" r:id="rId29"/>
    <p:sldId id="12896" r:id="rId30"/>
    <p:sldId id="12897" r:id="rId31"/>
    <p:sldId id="12898" r:id="rId32"/>
    <p:sldId id="12899" r:id="rId33"/>
    <p:sldId id="12900" r:id="rId34"/>
    <p:sldId id="12901" r:id="rId35"/>
    <p:sldId id="12902" r:id="rId36"/>
    <p:sldId id="12903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38" autoAdjust="0"/>
    <p:restoredTop sz="96331" autoAdjust="0"/>
  </p:normalViewPr>
  <p:slideViewPr>
    <p:cSldViewPr snapToGrid="0" showGuides="1">
      <p:cViewPr varScale="1">
        <p:scale>
          <a:sx n="131" d="100"/>
          <a:sy n="131" d="100"/>
        </p:scale>
        <p:origin x="4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状态数</c:v>
                </c:pt>
              </c:strCache>
            </c:strRef>
          </c:tx>
          <c:spPr>
            <a:solidFill>
              <a:srgbClr val="005DA1"/>
            </a:solidFill>
          </c:spPr>
          <c:cat>
            <c:strRef>
              <c:f>Sheet1!$A$2:$A$8</c:f>
              <c:strCache>
                <c:ptCount val="7"/>
                <c:pt idx="0">
                  <c:v>太阳</c:v>
                </c:pt>
                <c:pt idx="1">
                  <c:v>太阴</c:v>
                </c:pt>
                <c:pt idx="2">
                  <c:v>少阳</c:v>
                </c:pt>
                <c:pt idx="3">
                  <c:v>少阴</c:v>
                </c:pt>
                <c:pt idx="4">
                  <c:v>平衡</c:v>
                </c:pt>
                <c:pt idx="5">
                  <c:v>悬置</c:v>
                </c:pt>
                <c:pt idx="6">
                  <c:v>杂化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</c:v>
                </c:pt>
                <c:pt idx="1">
                  <c:v>16</c:v>
                </c:pt>
                <c:pt idx="2">
                  <c:v>40</c:v>
                </c:pt>
                <c:pt idx="3">
                  <c:v>40</c:v>
                </c:pt>
                <c:pt idx="4">
                  <c:v>6</c:v>
                </c:pt>
                <c:pt idx="5">
                  <c:v>0</c:v>
                </c:pt>
                <c:pt idx="6">
                  <c:v>98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155C2-2F9B-402A-A764-9C2AC348D3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E2394-AD80-4961-950C-A14FC89BCB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/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BA433-361D-4858-9C85-EA3F582D51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52CD4-EAE7-483E-8C07-2CD157A634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 rot="2564970">
            <a:off x="5452142" y="6176928"/>
            <a:ext cx="1493758" cy="1493758"/>
          </a:xfrm>
          <a:prstGeom prst="roundRect">
            <a:avLst>
              <a:gd name="adj" fmla="val 8843"/>
            </a:avLst>
          </a:prstGeom>
          <a:gradFill>
            <a:gsLst>
              <a:gs pos="0">
                <a:schemeClr val="accent1">
                  <a:alpha val="38000"/>
                </a:schemeClr>
              </a:gs>
              <a:gs pos="100000">
                <a:schemeClr val="accent2">
                  <a:alpha val="5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 rot="2606781">
            <a:off x="8177707" y="1586310"/>
            <a:ext cx="6065134" cy="6065134"/>
          </a:xfrm>
          <a:prstGeom prst="roundRect">
            <a:avLst>
              <a:gd name="adj" fmla="val 8843"/>
            </a:avLst>
          </a:pr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6" name="矩形: 圆角 5"/>
          <p:cNvSpPr/>
          <p:nvPr/>
        </p:nvSpPr>
        <p:spPr>
          <a:xfrm rot="2549781">
            <a:off x="5932760" y="5980589"/>
            <a:ext cx="2272982" cy="2272982"/>
          </a:xfrm>
          <a:prstGeom prst="roundRect">
            <a:avLst>
              <a:gd name="adj" fmla="val 884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1532" y="2548391"/>
            <a:ext cx="6423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袖里乾坤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99819" y="3668589"/>
            <a:ext cx="6213497" cy="617733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/>
            <a:r>
              <a:rPr lang="en-US" altLang="zh-CN" dirty="0">
                <a:cs typeface="+mn-ea"/>
                <a:sym typeface="+mn-lt"/>
              </a:rPr>
              <a:t>从三元基元到19683认知空间的架构设计与落地</a:t>
            </a:r>
          </a:p>
          <a:p>
            <a:pPr algn="just"/>
            <a:r>
              <a:rPr lang="en-US" altLang="zh-CN" dirty="0">
                <a:cs typeface="+mn-ea"/>
                <a:sym typeface="+mn-lt"/>
              </a:rPr>
              <a:t>——认知生命体 × 小六壬 × 移动应用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7582" y="1863142"/>
            <a:ext cx="156505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3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/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899445" y="2075516"/>
            <a:ext cx="4275432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COGNITIVE ARCHITECTURE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507582" y="4737623"/>
            <a:ext cx="1391863" cy="34629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润泽 ReynZE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2278279" y="4737623"/>
            <a:ext cx="1391863" cy="34629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2026.09</a:t>
            </a:r>
            <a:endParaRPr lang="zh-CN" altLang="en-US" sz="1100" dirty="0"/>
          </a:p>
        </p:txBody>
      </p:sp>
      <p:sp>
        <p:nvSpPr>
          <p:cNvPr id="24" name="矩形 23"/>
          <p:cNvSpPr/>
          <p:nvPr/>
        </p:nvSpPr>
        <p:spPr>
          <a:xfrm>
            <a:off x="129234" y="6227816"/>
            <a:ext cx="2945852" cy="36920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+mn-lt"/>
              </a:rPr>
              <a:t>认知生命体 x 小六壬</a:t>
            </a:r>
          </a:p>
        </p:txBody>
      </p:sp>
      <p:sp>
        <p:nvSpPr>
          <p:cNvPr id="25" name="矩形: 圆角 24"/>
          <p:cNvSpPr/>
          <p:nvPr/>
        </p:nvSpPr>
        <p:spPr>
          <a:xfrm rot="2683838">
            <a:off x="7278197" y="-1456862"/>
            <a:ext cx="2272982" cy="2272982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" name="矩形: 圆角 4"/>
          <p:cNvSpPr/>
          <p:nvPr/>
        </p:nvSpPr>
        <p:spPr>
          <a:xfrm rot="2683838">
            <a:off x="8072567" y="-1273651"/>
            <a:ext cx="2272982" cy="2272982"/>
          </a:xfrm>
          <a:prstGeom prst="roundRect">
            <a:avLst>
              <a:gd name="adj" fmla="val 884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28" name="矩形: 圆角 27"/>
          <p:cNvSpPr/>
          <p:nvPr/>
        </p:nvSpPr>
        <p:spPr>
          <a:xfrm rot="2606781">
            <a:off x="8213676" y="1586310"/>
            <a:ext cx="6065134" cy="6065134"/>
          </a:xfrm>
          <a:prstGeom prst="roundRect">
            <a:avLst>
              <a:gd name="adj" fmla="val 8843"/>
            </a:avLst>
          </a:prstGeom>
          <a:gradFill>
            <a:gsLst>
              <a:gs pos="12000">
                <a:schemeClr val="accent1">
                  <a:alpha val="0"/>
                </a:schemeClr>
              </a:gs>
              <a:gs pos="86000">
                <a:schemeClr val="accent1">
                  <a:alpha val="76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198924" y="1789759"/>
            <a:ext cx="4106268" cy="3278482"/>
            <a:chOff x="1259884" y="1789759"/>
            <a:chExt cx="4106268" cy="3278482"/>
          </a:xfrm>
        </p:grpSpPr>
        <p:sp>
          <p:nvSpPr>
            <p:cNvPr id="4" name="矩形: 圆角 3"/>
            <p:cNvSpPr/>
            <p:nvPr/>
          </p:nvSpPr>
          <p:spPr>
            <a:xfrm rot="2705342">
              <a:off x="1673777" y="1789759"/>
              <a:ext cx="3278482" cy="3278482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TextBox 59"/>
            <p:cNvSpPr txBox="1">
              <a:spLocks noChangeArrowheads="1"/>
            </p:cNvSpPr>
            <p:nvPr/>
          </p:nvSpPr>
          <p:spPr bwMode="auto">
            <a:xfrm>
              <a:off x="1259884" y="3556600"/>
              <a:ext cx="4106268" cy="7011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CONTENTS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6" name="TextBox 59"/>
            <p:cNvSpPr txBox="1">
              <a:spLocks noChangeArrowheads="1"/>
            </p:cNvSpPr>
            <p:nvPr/>
          </p:nvSpPr>
          <p:spPr bwMode="auto">
            <a:xfrm>
              <a:off x="1259884" y="2392810"/>
              <a:ext cx="4106268" cy="11070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6000" b="1" kern="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目  录</a:t>
              </a:r>
              <a:endPara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474940" y="1165462"/>
            <a:ext cx="4950879" cy="787725"/>
            <a:chOff x="6307300" y="1518634"/>
            <a:chExt cx="4950879" cy="787725"/>
          </a:xfrm>
        </p:grpSpPr>
        <p:grpSp>
          <p:nvGrpSpPr>
            <p:cNvPr id="8" name="组合 7"/>
            <p:cNvGrpSpPr/>
            <p:nvPr/>
          </p:nvGrpSpPr>
          <p:grpSpPr>
            <a:xfrm>
              <a:off x="7139792" y="1518634"/>
              <a:ext cx="4118387" cy="787725"/>
              <a:chOff x="6960006" y="1550760"/>
              <a:chExt cx="2915573" cy="557662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6960006" y="1550760"/>
                <a:ext cx="2348288" cy="370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alpha val="60000"/>
                      </a:schemeClr>
                    </a:solidFill>
                    <a:effectLst/>
                    <a:uLnTx/>
                    <a:uFillTx/>
                  </a:defRPr>
                </a:lvl1pPr>
              </a:lstStyle>
              <a:p>
                <a:r>
                  <a:rPr lang="zh-CN" altLang="en-US" sz="28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三元基元</a:t>
                </a:r>
                <a:endParaRPr lang="en-US" altLang="zh-CN" sz="2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6968585" y="1870062"/>
                <a:ext cx="2906994" cy="238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00" b="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r>
                  <a:rPr lang="en-US" altLang="zh-CN" sz="1200" dirty="0">
                    <a:solidFill>
                      <a:schemeClr val="bg1">
                        <a:lumMod val="65000"/>
                      </a:schemeClr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ea"/>
                    <a:sym typeface="+mn-lt"/>
                  </a:rPr>
                  <a:t>Triadic Primitives</a:t>
                </a:r>
              </a:p>
            </p:txBody>
          </p:sp>
        </p:grpSp>
        <p:sp>
          <p:nvSpPr>
            <p:cNvPr id="24" name="矩形: 圆角 23"/>
            <p:cNvSpPr/>
            <p:nvPr/>
          </p:nvSpPr>
          <p:spPr>
            <a:xfrm rot="2705342">
              <a:off x="6418872" y="1587791"/>
              <a:ext cx="597229" cy="597229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TextBox 59"/>
            <p:cNvSpPr txBox="1">
              <a:spLocks noChangeArrowheads="1"/>
            </p:cNvSpPr>
            <p:nvPr/>
          </p:nvSpPr>
          <p:spPr bwMode="auto">
            <a:xfrm>
              <a:off x="6307300" y="1592944"/>
              <a:ext cx="844609" cy="4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01</a:t>
              </a:r>
              <a:endPara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474940" y="2439724"/>
            <a:ext cx="4950879" cy="787724"/>
            <a:chOff x="6307300" y="1518631"/>
            <a:chExt cx="4950879" cy="787724"/>
          </a:xfrm>
        </p:grpSpPr>
        <p:grpSp>
          <p:nvGrpSpPr>
            <p:cNvPr id="28" name="组合 27"/>
            <p:cNvGrpSpPr/>
            <p:nvPr/>
          </p:nvGrpSpPr>
          <p:grpSpPr>
            <a:xfrm>
              <a:off x="7139792" y="1518631"/>
              <a:ext cx="4118387" cy="787724"/>
              <a:chOff x="6960006" y="1550760"/>
              <a:chExt cx="2915573" cy="557662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6960006" y="1550760"/>
                <a:ext cx="2348288" cy="370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alpha val="60000"/>
                      </a:schemeClr>
                    </a:solidFill>
                    <a:effectLst/>
                    <a:uLnTx/>
                    <a:uFillTx/>
                  </a:defRPr>
                </a:lvl1pPr>
              </a:lstStyle>
              <a:p>
                <a:r>
                  <a:rPr lang="zh-CN" altLang="en-US" sz="28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认知架构</a:t>
                </a:r>
                <a:endParaRPr lang="en-US" altLang="zh-CN" sz="2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6968585" y="1870062"/>
                <a:ext cx="2906994" cy="238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00" b="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r>
                  <a:rPr lang="en-US" altLang="zh-CN" sz="1200" dirty="0">
                    <a:solidFill>
                      <a:schemeClr val="bg1">
                        <a:lumMod val="65000"/>
                      </a:schemeClr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ea"/>
                    <a:sym typeface="+mn-lt"/>
                  </a:rPr>
                  <a:t>Cognitive Architecture</a:t>
                </a:r>
              </a:p>
            </p:txBody>
          </p:sp>
        </p:grpSp>
        <p:sp>
          <p:nvSpPr>
            <p:cNvPr id="29" name="矩形: 圆角 28"/>
            <p:cNvSpPr/>
            <p:nvPr/>
          </p:nvSpPr>
          <p:spPr>
            <a:xfrm rot="2705342">
              <a:off x="6418872" y="1587791"/>
              <a:ext cx="597229" cy="597229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TextBox 59"/>
            <p:cNvSpPr txBox="1">
              <a:spLocks noChangeArrowheads="1"/>
            </p:cNvSpPr>
            <p:nvPr/>
          </p:nvSpPr>
          <p:spPr bwMode="auto">
            <a:xfrm>
              <a:off x="6307300" y="1592944"/>
              <a:ext cx="844609" cy="4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02</a:t>
              </a:r>
              <a:endPara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474940" y="3713989"/>
            <a:ext cx="4950879" cy="787724"/>
            <a:chOff x="6307300" y="1518631"/>
            <a:chExt cx="4950879" cy="787724"/>
          </a:xfrm>
        </p:grpSpPr>
        <p:grpSp>
          <p:nvGrpSpPr>
            <p:cNvPr id="34" name="组合 33"/>
            <p:cNvGrpSpPr/>
            <p:nvPr/>
          </p:nvGrpSpPr>
          <p:grpSpPr>
            <a:xfrm>
              <a:off x="7139792" y="1518631"/>
              <a:ext cx="4118387" cy="787724"/>
              <a:chOff x="6960006" y="1550760"/>
              <a:chExt cx="2915573" cy="557662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6960006" y="1550760"/>
                <a:ext cx="2348288" cy="370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alpha val="60000"/>
                      </a:schemeClr>
                    </a:solidFill>
                    <a:effectLst/>
                    <a:uLnTx/>
                    <a:uFillTx/>
                  </a:defRPr>
                </a:lvl1pPr>
              </a:lstStyle>
              <a:p>
                <a:r>
                  <a:rPr lang="zh-CN" altLang="en-US" sz="28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算法映射</a:t>
                </a:r>
                <a:endParaRPr lang="en-US" altLang="zh-CN" sz="2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968585" y="1870062"/>
                <a:ext cx="2906994" cy="238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00" b="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r>
                  <a:rPr lang="en-US" altLang="zh-CN" sz="1200" dirty="0">
                    <a:solidFill>
                      <a:schemeClr val="bg1">
                        <a:lumMod val="65000"/>
                      </a:schemeClr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ea"/>
                    <a:sym typeface="+mn-lt"/>
                  </a:rPr>
                  <a:t>Algorithm Mapping</a:t>
                </a:r>
              </a:p>
            </p:txBody>
          </p:sp>
        </p:grpSp>
        <p:sp>
          <p:nvSpPr>
            <p:cNvPr id="35" name="矩形: 圆角 34"/>
            <p:cNvSpPr/>
            <p:nvPr/>
          </p:nvSpPr>
          <p:spPr>
            <a:xfrm rot="2705342">
              <a:off x="6418872" y="1587791"/>
              <a:ext cx="597229" cy="597229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TextBox 59"/>
            <p:cNvSpPr txBox="1">
              <a:spLocks noChangeArrowheads="1"/>
            </p:cNvSpPr>
            <p:nvPr/>
          </p:nvSpPr>
          <p:spPr bwMode="auto">
            <a:xfrm>
              <a:off x="6307300" y="1592944"/>
              <a:ext cx="844609" cy="4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03</a:t>
              </a:r>
              <a:endPara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474940" y="4988254"/>
            <a:ext cx="4950879" cy="726746"/>
            <a:chOff x="6307300" y="1518632"/>
            <a:chExt cx="4950879" cy="726746"/>
          </a:xfrm>
        </p:grpSpPr>
        <p:grpSp>
          <p:nvGrpSpPr>
            <p:cNvPr id="40" name="组合 39"/>
            <p:cNvGrpSpPr/>
            <p:nvPr/>
          </p:nvGrpSpPr>
          <p:grpSpPr>
            <a:xfrm>
              <a:off x="7139792" y="1518632"/>
              <a:ext cx="4118387" cy="726746"/>
              <a:chOff x="6960006" y="1550760"/>
              <a:chExt cx="2915573" cy="514493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6960006" y="1550760"/>
                <a:ext cx="2348288" cy="370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alpha val="60000"/>
                      </a:schemeClr>
                    </a:solidFill>
                    <a:effectLst/>
                    <a:uLnTx/>
                    <a:uFillTx/>
                  </a:defRPr>
                </a:lvl1pPr>
              </a:lstStyle>
              <a:p>
                <a:r>
                  <a:rPr lang="zh-CN" altLang="en-US" sz="28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APP落地</a:t>
                </a:r>
                <a:endParaRPr lang="en-US" altLang="zh-CN" sz="2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968585" y="1870062"/>
                <a:ext cx="2906994" cy="195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00" b="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r>
                  <a:rPr lang="en-US" altLang="zh-CN" sz="900" dirty="0">
                    <a:solidFill>
                      <a:schemeClr val="bg1">
                        <a:lumMod val="65000"/>
                      </a:schemeClr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ea"/>
                    <a:sym typeface="+mn-lt"/>
                  </a:rPr>
                  <a:t>Application Delivery</a:t>
                </a:r>
              </a:p>
            </p:txBody>
          </p:sp>
        </p:grpSp>
        <p:sp>
          <p:nvSpPr>
            <p:cNvPr id="41" name="矩形: 圆角 40"/>
            <p:cNvSpPr/>
            <p:nvPr/>
          </p:nvSpPr>
          <p:spPr>
            <a:xfrm rot="2705342">
              <a:off x="6418872" y="1587791"/>
              <a:ext cx="597229" cy="597229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TextBox 59"/>
            <p:cNvSpPr txBox="1">
              <a:spLocks noChangeArrowheads="1"/>
            </p:cNvSpPr>
            <p:nvPr/>
          </p:nvSpPr>
          <p:spPr bwMode="auto">
            <a:xfrm>
              <a:off x="6307300" y="1592944"/>
              <a:ext cx="844609" cy="4982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04</a:t>
              </a:r>
              <a:endPara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45" name="矩形: 圆角 44"/>
          <p:cNvSpPr/>
          <p:nvPr/>
        </p:nvSpPr>
        <p:spPr>
          <a:xfrm rot="2705342">
            <a:off x="613381" y="2520520"/>
            <a:ext cx="616644" cy="616644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矩形: 圆角 45"/>
          <p:cNvSpPr/>
          <p:nvPr/>
        </p:nvSpPr>
        <p:spPr>
          <a:xfrm rot="2705342">
            <a:off x="5390078" y="3725014"/>
            <a:ext cx="326748" cy="341142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10380525" y="6389323"/>
            <a:ext cx="1463243" cy="324224"/>
            <a:chOff x="9786754" y="6199772"/>
            <a:chExt cx="1579585" cy="350003"/>
          </a:xfrm>
        </p:grpSpPr>
        <p:grpSp>
          <p:nvGrpSpPr>
            <p:cNvPr id="51" name="Group 18"/>
            <p:cNvGrpSpPr/>
            <p:nvPr/>
          </p:nvGrpSpPr>
          <p:grpSpPr>
            <a:xfrm>
              <a:off x="9786754" y="6199772"/>
              <a:ext cx="350003" cy="350003"/>
              <a:chOff x="8516390" y="7193443"/>
              <a:chExt cx="658929" cy="658929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8516390" y="7193443"/>
                <a:ext cx="658929" cy="658929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9" name="iconfont-11964-5737133"/>
              <p:cNvSpPr/>
              <p:nvPr/>
            </p:nvSpPr>
            <p:spPr>
              <a:xfrm>
                <a:off x="8648783" y="7349138"/>
                <a:ext cx="394143" cy="347537"/>
              </a:xfrm>
              <a:custGeom>
                <a:avLst/>
                <a:gdLst>
                  <a:gd name="connsiteX0" fmla="*/ 458942 w 608697"/>
                  <a:gd name="connsiteY0" fmla="*/ 115304 h 536721"/>
                  <a:gd name="connsiteX1" fmla="*/ 530858 w 608697"/>
                  <a:gd name="connsiteY1" fmla="*/ 115304 h 536721"/>
                  <a:gd name="connsiteX2" fmla="*/ 554432 w 608697"/>
                  <a:gd name="connsiteY2" fmla="*/ 138839 h 536721"/>
                  <a:gd name="connsiteX3" fmla="*/ 554432 w 608697"/>
                  <a:gd name="connsiteY3" fmla="*/ 210560 h 536721"/>
                  <a:gd name="connsiteX4" fmla="*/ 530858 w 608697"/>
                  <a:gd name="connsiteY4" fmla="*/ 234094 h 536721"/>
                  <a:gd name="connsiteX5" fmla="*/ 507209 w 608697"/>
                  <a:gd name="connsiteY5" fmla="*/ 210560 h 536721"/>
                  <a:gd name="connsiteX6" fmla="*/ 507209 w 608697"/>
                  <a:gd name="connsiteY6" fmla="*/ 192089 h 536721"/>
                  <a:gd name="connsiteX7" fmla="*/ 395008 w 608697"/>
                  <a:gd name="connsiteY7" fmla="*/ 295388 h 536721"/>
                  <a:gd name="connsiteX8" fmla="*/ 379043 w 608697"/>
                  <a:gd name="connsiteY8" fmla="*/ 301644 h 536721"/>
                  <a:gd name="connsiteX9" fmla="*/ 369420 w 608697"/>
                  <a:gd name="connsiteY9" fmla="*/ 299559 h 536721"/>
                  <a:gd name="connsiteX10" fmla="*/ 253861 w 608697"/>
                  <a:gd name="connsiteY10" fmla="*/ 247947 h 536721"/>
                  <a:gd name="connsiteX11" fmla="*/ 120772 w 608697"/>
                  <a:gd name="connsiteY11" fmla="*/ 334488 h 536721"/>
                  <a:gd name="connsiteX12" fmla="*/ 107866 w 608697"/>
                  <a:gd name="connsiteY12" fmla="*/ 338361 h 536721"/>
                  <a:gd name="connsiteX13" fmla="*/ 88096 w 608697"/>
                  <a:gd name="connsiteY13" fmla="*/ 327637 h 536721"/>
                  <a:gd name="connsiteX14" fmla="*/ 95034 w 608697"/>
                  <a:gd name="connsiteY14" fmla="*/ 295090 h 536721"/>
                  <a:gd name="connsiteX15" fmla="*/ 238866 w 608697"/>
                  <a:gd name="connsiteY15" fmla="*/ 201474 h 536721"/>
                  <a:gd name="connsiteX16" fmla="*/ 251698 w 608697"/>
                  <a:gd name="connsiteY16" fmla="*/ 197675 h 536721"/>
                  <a:gd name="connsiteX17" fmla="*/ 261322 w 608697"/>
                  <a:gd name="connsiteY17" fmla="*/ 199686 h 536721"/>
                  <a:gd name="connsiteX18" fmla="*/ 374492 w 608697"/>
                  <a:gd name="connsiteY18" fmla="*/ 250256 h 536721"/>
                  <a:gd name="connsiteX19" fmla="*/ 469983 w 608697"/>
                  <a:gd name="connsiteY19" fmla="*/ 162373 h 536721"/>
                  <a:gd name="connsiteX20" fmla="*/ 458942 w 608697"/>
                  <a:gd name="connsiteY20" fmla="*/ 162373 h 536721"/>
                  <a:gd name="connsiteX21" fmla="*/ 435368 w 608697"/>
                  <a:gd name="connsiteY21" fmla="*/ 138839 h 536721"/>
                  <a:gd name="connsiteX22" fmla="*/ 458942 w 608697"/>
                  <a:gd name="connsiteY22" fmla="*/ 115304 h 536721"/>
                  <a:gd name="connsiteX23" fmla="*/ 23572 w 608697"/>
                  <a:gd name="connsiteY23" fmla="*/ 0 h 536721"/>
                  <a:gd name="connsiteX24" fmla="*/ 47144 w 608697"/>
                  <a:gd name="connsiteY24" fmla="*/ 23537 h 536721"/>
                  <a:gd name="connsiteX25" fmla="*/ 47144 w 608697"/>
                  <a:gd name="connsiteY25" fmla="*/ 489648 h 536721"/>
                  <a:gd name="connsiteX26" fmla="*/ 95706 w 608697"/>
                  <a:gd name="connsiteY26" fmla="*/ 489648 h 536721"/>
                  <a:gd name="connsiteX27" fmla="*/ 95706 w 608697"/>
                  <a:gd name="connsiteY27" fmla="*/ 360272 h 536721"/>
                  <a:gd name="connsiteX28" fmla="*/ 107865 w 608697"/>
                  <a:gd name="connsiteY28" fmla="*/ 361911 h 536721"/>
                  <a:gd name="connsiteX29" fmla="*/ 133600 w 608697"/>
                  <a:gd name="connsiteY29" fmla="*/ 354239 h 536721"/>
                  <a:gd name="connsiteX30" fmla="*/ 142924 w 608697"/>
                  <a:gd name="connsiteY30" fmla="*/ 348206 h 536721"/>
                  <a:gd name="connsiteX31" fmla="*/ 142924 w 608697"/>
                  <a:gd name="connsiteY31" fmla="*/ 489648 h 536721"/>
                  <a:gd name="connsiteX32" fmla="*/ 221473 w 608697"/>
                  <a:gd name="connsiteY32" fmla="*/ 489648 h 536721"/>
                  <a:gd name="connsiteX33" fmla="*/ 221473 w 608697"/>
                  <a:gd name="connsiteY33" fmla="*/ 297111 h 536721"/>
                  <a:gd name="connsiteX34" fmla="*/ 255936 w 608697"/>
                  <a:gd name="connsiteY34" fmla="*/ 274692 h 536721"/>
                  <a:gd name="connsiteX35" fmla="*/ 268617 w 608697"/>
                  <a:gd name="connsiteY35" fmla="*/ 280352 h 536721"/>
                  <a:gd name="connsiteX36" fmla="*/ 268617 w 608697"/>
                  <a:gd name="connsiteY36" fmla="*/ 489648 h 536721"/>
                  <a:gd name="connsiteX37" fmla="*/ 347241 w 608697"/>
                  <a:gd name="connsiteY37" fmla="*/ 489648 h 536721"/>
                  <a:gd name="connsiteX38" fmla="*/ 347241 w 608697"/>
                  <a:gd name="connsiteY38" fmla="*/ 315434 h 536721"/>
                  <a:gd name="connsiteX39" fmla="*/ 359773 w 608697"/>
                  <a:gd name="connsiteY39" fmla="*/ 321094 h 536721"/>
                  <a:gd name="connsiteX40" fmla="*/ 379018 w 608697"/>
                  <a:gd name="connsiteY40" fmla="*/ 325191 h 536721"/>
                  <a:gd name="connsiteX41" fmla="*/ 394385 w 608697"/>
                  <a:gd name="connsiteY41" fmla="*/ 322584 h 536721"/>
                  <a:gd name="connsiteX42" fmla="*/ 394385 w 608697"/>
                  <a:gd name="connsiteY42" fmla="*/ 489648 h 536721"/>
                  <a:gd name="connsiteX43" fmla="*/ 473008 w 608697"/>
                  <a:gd name="connsiteY43" fmla="*/ 489648 h 536721"/>
                  <a:gd name="connsiteX44" fmla="*/ 473008 w 608697"/>
                  <a:gd name="connsiteY44" fmla="*/ 255624 h 536721"/>
                  <a:gd name="connsiteX45" fmla="*/ 492328 w 608697"/>
                  <a:gd name="connsiteY45" fmla="*/ 237823 h 536721"/>
                  <a:gd name="connsiteX46" fmla="*/ 520152 w 608697"/>
                  <a:gd name="connsiteY46" fmla="*/ 256444 h 536721"/>
                  <a:gd name="connsiteX47" fmla="*/ 520152 w 608697"/>
                  <a:gd name="connsiteY47" fmla="*/ 489648 h 536721"/>
                  <a:gd name="connsiteX48" fmla="*/ 585125 w 608697"/>
                  <a:gd name="connsiteY48" fmla="*/ 489648 h 536721"/>
                  <a:gd name="connsiteX49" fmla="*/ 608697 w 608697"/>
                  <a:gd name="connsiteY49" fmla="*/ 513185 h 536721"/>
                  <a:gd name="connsiteX50" fmla="*/ 585125 w 608697"/>
                  <a:gd name="connsiteY50" fmla="*/ 536721 h 536721"/>
                  <a:gd name="connsiteX51" fmla="*/ 23572 w 608697"/>
                  <a:gd name="connsiteY51" fmla="*/ 536721 h 536721"/>
                  <a:gd name="connsiteX52" fmla="*/ 0 w 608697"/>
                  <a:gd name="connsiteY52" fmla="*/ 513185 h 536721"/>
                  <a:gd name="connsiteX53" fmla="*/ 0 w 608697"/>
                  <a:gd name="connsiteY53" fmla="*/ 23537 h 536721"/>
                  <a:gd name="connsiteX54" fmla="*/ 23572 w 608697"/>
                  <a:gd name="connsiteY54" fmla="*/ 0 h 536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08697" h="536721">
                    <a:moveTo>
                      <a:pt x="458942" y="115304"/>
                    </a:moveTo>
                    <a:lnTo>
                      <a:pt x="530858" y="115304"/>
                    </a:lnTo>
                    <a:cubicBezTo>
                      <a:pt x="543839" y="115304"/>
                      <a:pt x="554432" y="125805"/>
                      <a:pt x="554432" y="138839"/>
                    </a:cubicBezTo>
                    <a:lnTo>
                      <a:pt x="554432" y="210560"/>
                    </a:lnTo>
                    <a:cubicBezTo>
                      <a:pt x="554432" y="223593"/>
                      <a:pt x="543839" y="234094"/>
                      <a:pt x="530858" y="234094"/>
                    </a:cubicBezTo>
                    <a:cubicBezTo>
                      <a:pt x="517803" y="234094"/>
                      <a:pt x="507209" y="223593"/>
                      <a:pt x="507209" y="210560"/>
                    </a:cubicBezTo>
                    <a:lnTo>
                      <a:pt x="507209" y="192089"/>
                    </a:lnTo>
                    <a:lnTo>
                      <a:pt x="395008" y="295388"/>
                    </a:lnTo>
                    <a:cubicBezTo>
                      <a:pt x="390606" y="299485"/>
                      <a:pt x="384862" y="301644"/>
                      <a:pt x="379043" y="301644"/>
                    </a:cubicBezTo>
                    <a:cubicBezTo>
                      <a:pt x="375761" y="301644"/>
                      <a:pt x="372553" y="300900"/>
                      <a:pt x="369420" y="299559"/>
                    </a:cubicBezTo>
                    <a:lnTo>
                      <a:pt x="253861" y="247947"/>
                    </a:lnTo>
                    <a:lnTo>
                      <a:pt x="120772" y="334488"/>
                    </a:lnTo>
                    <a:cubicBezTo>
                      <a:pt x="116743" y="337095"/>
                      <a:pt x="112342" y="338361"/>
                      <a:pt x="107866" y="338361"/>
                    </a:cubicBezTo>
                    <a:cubicBezTo>
                      <a:pt x="100182" y="338361"/>
                      <a:pt x="92647" y="334563"/>
                      <a:pt x="88096" y="327637"/>
                    </a:cubicBezTo>
                    <a:cubicBezTo>
                      <a:pt x="81009" y="316763"/>
                      <a:pt x="84068" y="302166"/>
                      <a:pt x="95034" y="295090"/>
                    </a:cubicBezTo>
                    <a:lnTo>
                      <a:pt x="238866" y="201474"/>
                    </a:lnTo>
                    <a:cubicBezTo>
                      <a:pt x="242746" y="198941"/>
                      <a:pt x="247222" y="197675"/>
                      <a:pt x="251698" y="197675"/>
                    </a:cubicBezTo>
                    <a:cubicBezTo>
                      <a:pt x="254980" y="197675"/>
                      <a:pt x="258263" y="198345"/>
                      <a:pt x="261322" y="199686"/>
                    </a:cubicBezTo>
                    <a:lnTo>
                      <a:pt x="374492" y="250256"/>
                    </a:lnTo>
                    <a:lnTo>
                      <a:pt x="469983" y="162373"/>
                    </a:lnTo>
                    <a:lnTo>
                      <a:pt x="458942" y="162373"/>
                    </a:lnTo>
                    <a:cubicBezTo>
                      <a:pt x="445886" y="162373"/>
                      <a:pt x="435368" y="151798"/>
                      <a:pt x="435368" y="138839"/>
                    </a:cubicBezTo>
                    <a:cubicBezTo>
                      <a:pt x="435368" y="125805"/>
                      <a:pt x="445886" y="115304"/>
                      <a:pt x="458942" y="115304"/>
                    </a:cubicBezTo>
                    <a:close/>
                    <a:moveTo>
                      <a:pt x="23572" y="0"/>
                    </a:moveTo>
                    <a:cubicBezTo>
                      <a:pt x="36626" y="0"/>
                      <a:pt x="47144" y="10502"/>
                      <a:pt x="47144" y="23537"/>
                    </a:cubicBezTo>
                    <a:lnTo>
                      <a:pt x="47144" y="489648"/>
                    </a:lnTo>
                    <a:lnTo>
                      <a:pt x="95706" y="489648"/>
                    </a:lnTo>
                    <a:lnTo>
                      <a:pt x="95706" y="360272"/>
                    </a:lnTo>
                    <a:cubicBezTo>
                      <a:pt x="99659" y="361315"/>
                      <a:pt x="103762" y="361911"/>
                      <a:pt x="107865" y="361911"/>
                    </a:cubicBezTo>
                    <a:cubicBezTo>
                      <a:pt x="117040" y="361911"/>
                      <a:pt x="125917" y="359229"/>
                      <a:pt x="133600" y="354239"/>
                    </a:cubicBezTo>
                    <a:lnTo>
                      <a:pt x="142924" y="348206"/>
                    </a:lnTo>
                    <a:lnTo>
                      <a:pt x="142924" y="489648"/>
                    </a:lnTo>
                    <a:lnTo>
                      <a:pt x="221473" y="489648"/>
                    </a:lnTo>
                    <a:lnTo>
                      <a:pt x="221473" y="297111"/>
                    </a:lnTo>
                    <a:lnTo>
                      <a:pt x="255936" y="274692"/>
                    </a:lnTo>
                    <a:lnTo>
                      <a:pt x="268617" y="280352"/>
                    </a:lnTo>
                    <a:lnTo>
                      <a:pt x="268617" y="489648"/>
                    </a:lnTo>
                    <a:lnTo>
                      <a:pt x="347241" y="489648"/>
                    </a:lnTo>
                    <a:lnTo>
                      <a:pt x="347241" y="315434"/>
                    </a:lnTo>
                    <a:lnTo>
                      <a:pt x="359773" y="321094"/>
                    </a:lnTo>
                    <a:cubicBezTo>
                      <a:pt x="365890" y="323776"/>
                      <a:pt x="372379" y="325191"/>
                      <a:pt x="379018" y="325191"/>
                    </a:cubicBezTo>
                    <a:cubicBezTo>
                      <a:pt x="384315" y="325191"/>
                      <a:pt x="389536" y="324297"/>
                      <a:pt x="394385" y="322584"/>
                    </a:cubicBezTo>
                    <a:lnTo>
                      <a:pt x="394385" y="489648"/>
                    </a:lnTo>
                    <a:lnTo>
                      <a:pt x="473008" y="489648"/>
                    </a:lnTo>
                    <a:lnTo>
                      <a:pt x="473008" y="255624"/>
                    </a:lnTo>
                    <a:lnTo>
                      <a:pt x="492328" y="237823"/>
                    </a:lnTo>
                    <a:cubicBezTo>
                      <a:pt x="498893" y="247059"/>
                      <a:pt x="508739" y="253837"/>
                      <a:pt x="520152" y="256444"/>
                    </a:cubicBezTo>
                    <a:lnTo>
                      <a:pt x="520152" y="489648"/>
                    </a:lnTo>
                    <a:lnTo>
                      <a:pt x="585125" y="489648"/>
                    </a:lnTo>
                    <a:cubicBezTo>
                      <a:pt x="598104" y="489648"/>
                      <a:pt x="608697" y="500225"/>
                      <a:pt x="608697" y="513185"/>
                    </a:cubicBezTo>
                    <a:cubicBezTo>
                      <a:pt x="608697" y="526219"/>
                      <a:pt x="598104" y="536721"/>
                      <a:pt x="585125" y="536721"/>
                    </a:cubicBezTo>
                    <a:lnTo>
                      <a:pt x="23572" y="536721"/>
                    </a:lnTo>
                    <a:cubicBezTo>
                      <a:pt x="10593" y="536721"/>
                      <a:pt x="0" y="526219"/>
                      <a:pt x="0" y="513185"/>
                    </a:cubicBezTo>
                    <a:lnTo>
                      <a:pt x="0" y="23537"/>
                    </a:lnTo>
                    <a:cubicBezTo>
                      <a:pt x="0" y="10502"/>
                      <a:pt x="10593" y="0"/>
                      <a:pt x="235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52" name="Group 19"/>
            <p:cNvGrpSpPr/>
            <p:nvPr/>
          </p:nvGrpSpPr>
          <p:grpSpPr>
            <a:xfrm>
              <a:off x="10401545" y="6199772"/>
              <a:ext cx="350003" cy="350003"/>
              <a:chOff x="8516390" y="7193443"/>
              <a:chExt cx="658929" cy="658929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8516390" y="7193443"/>
                <a:ext cx="658929" cy="658929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iconfont-11964-5737133"/>
              <p:cNvSpPr/>
              <p:nvPr/>
            </p:nvSpPr>
            <p:spPr>
              <a:xfrm>
                <a:off x="8676418" y="7325836"/>
                <a:ext cx="338871" cy="394143"/>
              </a:xfrm>
              <a:custGeom>
                <a:avLst/>
                <a:gdLst>
                  <a:gd name="T0" fmla="*/ 1280 w 10920"/>
                  <a:gd name="T1" fmla="*/ 12700 h 12700"/>
                  <a:gd name="T2" fmla="*/ 1080 w 10920"/>
                  <a:gd name="T3" fmla="*/ 200 h 12700"/>
                  <a:gd name="T4" fmla="*/ 10720 w 10920"/>
                  <a:gd name="T5" fmla="*/ 0 h 12700"/>
                  <a:gd name="T6" fmla="*/ 10920 w 10920"/>
                  <a:gd name="T7" fmla="*/ 12500 h 12700"/>
                  <a:gd name="T8" fmla="*/ 1480 w 10920"/>
                  <a:gd name="T9" fmla="*/ 12300 h 12700"/>
                  <a:gd name="T10" fmla="*/ 10520 w 10920"/>
                  <a:gd name="T11" fmla="*/ 400 h 12700"/>
                  <a:gd name="T12" fmla="*/ 1480 w 10920"/>
                  <a:gd name="T13" fmla="*/ 12300 h 12700"/>
                  <a:gd name="T14" fmla="*/ 680 w 10920"/>
                  <a:gd name="T15" fmla="*/ 11170 h 12700"/>
                  <a:gd name="T16" fmla="*/ 680 w 10920"/>
                  <a:gd name="T17" fmla="*/ 9810 h 12700"/>
                  <a:gd name="T18" fmla="*/ 1470 w 10920"/>
                  <a:gd name="T19" fmla="*/ 10010 h 12700"/>
                  <a:gd name="T20" fmla="*/ 680 w 10920"/>
                  <a:gd name="T21" fmla="*/ 10210 h 12700"/>
                  <a:gd name="T22" fmla="*/ 680 w 10920"/>
                  <a:gd name="T23" fmla="*/ 10770 h 12700"/>
                  <a:gd name="T24" fmla="*/ 2230 w 10920"/>
                  <a:gd name="T25" fmla="*/ 10970 h 12700"/>
                  <a:gd name="T26" fmla="*/ 2030 w 10920"/>
                  <a:gd name="T27" fmla="*/ 8410 h 12700"/>
                  <a:gd name="T28" fmla="*/ 0 w 10920"/>
                  <a:gd name="T29" fmla="*/ 7730 h 12700"/>
                  <a:gd name="T30" fmla="*/ 1270 w 10920"/>
                  <a:gd name="T31" fmla="*/ 7050 h 12700"/>
                  <a:gd name="T32" fmla="*/ 1270 w 10920"/>
                  <a:gd name="T33" fmla="*/ 7450 h 12700"/>
                  <a:gd name="T34" fmla="*/ 400 w 10920"/>
                  <a:gd name="T35" fmla="*/ 7730 h 12700"/>
                  <a:gd name="T36" fmla="*/ 2030 w 10920"/>
                  <a:gd name="T37" fmla="*/ 8010 h 12700"/>
                  <a:gd name="T38" fmla="*/ 2030 w 10920"/>
                  <a:gd name="T39" fmla="*/ 8410 h 12700"/>
                  <a:gd name="T40" fmla="*/ 680 w 10920"/>
                  <a:gd name="T41" fmla="*/ 5650 h 12700"/>
                  <a:gd name="T42" fmla="*/ 680 w 10920"/>
                  <a:gd name="T43" fmla="*/ 4290 h 12700"/>
                  <a:gd name="T44" fmla="*/ 1470 w 10920"/>
                  <a:gd name="T45" fmla="*/ 4490 h 12700"/>
                  <a:gd name="T46" fmla="*/ 680 w 10920"/>
                  <a:gd name="T47" fmla="*/ 4690 h 12700"/>
                  <a:gd name="T48" fmla="*/ 680 w 10920"/>
                  <a:gd name="T49" fmla="*/ 5250 h 12700"/>
                  <a:gd name="T50" fmla="*/ 2230 w 10920"/>
                  <a:gd name="T51" fmla="*/ 5450 h 12700"/>
                  <a:gd name="T52" fmla="*/ 2030 w 10920"/>
                  <a:gd name="T53" fmla="*/ 2900 h 12700"/>
                  <a:gd name="T54" fmla="*/ 0 w 10920"/>
                  <a:gd name="T55" fmla="*/ 2220 h 12700"/>
                  <a:gd name="T56" fmla="*/ 1270 w 10920"/>
                  <a:gd name="T57" fmla="*/ 1540 h 12700"/>
                  <a:gd name="T58" fmla="*/ 1270 w 10920"/>
                  <a:gd name="T59" fmla="*/ 1940 h 12700"/>
                  <a:gd name="T60" fmla="*/ 400 w 10920"/>
                  <a:gd name="T61" fmla="*/ 2220 h 12700"/>
                  <a:gd name="T62" fmla="*/ 2030 w 10920"/>
                  <a:gd name="T63" fmla="*/ 2500 h 12700"/>
                  <a:gd name="T64" fmla="*/ 2030 w 10920"/>
                  <a:gd name="T65" fmla="*/ 2900 h 12700"/>
                  <a:gd name="T66" fmla="*/ 3760 w 10920"/>
                  <a:gd name="T67" fmla="*/ 2610 h 12700"/>
                  <a:gd name="T68" fmla="*/ 3760 w 10920"/>
                  <a:gd name="T69" fmla="*/ 2410 h 12700"/>
                  <a:gd name="T70" fmla="*/ 9400 w 10920"/>
                  <a:gd name="T71" fmla="*/ 2510 h 12700"/>
                  <a:gd name="T72" fmla="*/ 9300 w 10920"/>
                  <a:gd name="T73" fmla="*/ 5170 h 12700"/>
                  <a:gd name="T74" fmla="*/ 3660 w 10920"/>
                  <a:gd name="T75" fmla="*/ 5070 h 12700"/>
                  <a:gd name="T76" fmla="*/ 9300 w 10920"/>
                  <a:gd name="T77" fmla="*/ 4970 h 12700"/>
                  <a:gd name="T78" fmla="*/ 9300 w 10920"/>
                  <a:gd name="T79" fmla="*/ 5170 h 12700"/>
                  <a:gd name="T80" fmla="*/ 3760 w 10920"/>
                  <a:gd name="T81" fmla="*/ 7730 h 12700"/>
                  <a:gd name="T82" fmla="*/ 3760 w 10920"/>
                  <a:gd name="T83" fmla="*/ 7530 h 12700"/>
                  <a:gd name="T84" fmla="*/ 9400 w 10920"/>
                  <a:gd name="T85" fmla="*/ 7630 h 12700"/>
                  <a:gd name="T86" fmla="*/ 9300 w 10920"/>
                  <a:gd name="T87" fmla="*/ 10290 h 12700"/>
                  <a:gd name="T88" fmla="*/ 3660 w 10920"/>
                  <a:gd name="T89" fmla="*/ 10190 h 12700"/>
                  <a:gd name="T90" fmla="*/ 9300 w 10920"/>
                  <a:gd name="T91" fmla="*/ 10090 h 12700"/>
                  <a:gd name="T92" fmla="*/ 9300 w 10920"/>
                  <a:gd name="T93" fmla="*/ 10290 h 12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920" h="12700">
                    <a:moveTo>
                      <a:pt x="10720" y="12700"/>
                    </a:moveTo>
                    <a:lnTo>
                      <a:pt x="1280" y="12700"/>
                    </a:lnTo>
                    <a:cubicBezTo>
                      <a:pt x="1170" y="12700"/>
                      <a:pt x="1080" y="12610"/>
                      <a:pt x="1080" y="12500"/>
                    </a:cubicBezTo>
                    <a:lnTo>
                      <a:pt x="1080" y="200"/>
                    </a:lnTo>
                    <a:cubicBezTo>
                      <a:pt x="1080" y="90"/>
                      <a:pt x="1170" y="0"/>
                      <a:pt x="1280" y="0"/>
                    </a:cubicBezTo>
                    <a:lnTo>
                      <a:pt x="10720" y="0"/>
                    </a:lnTo>
                    <a:cubicBezTo>
                      <a:pt x="10830" y="0"/>
                      <a:pt x="10920" y="90"/>
                      <a:pt x="10920" y="200"/>
                    </a:cubicBezTo>
                    <a:lnTo>
                      <a:pt x="10920" y="12500"/>
                    </a:lnTo>
                    <a:cubicBezTo>
                      <a:pt x="10920" y="12610"/>
                      <a:pt x="10830" y="12700"/>
                      <a:pt x="10720" y="12700"/>
                    </a:cubicBezTo>
                    <a:close/>
                    <a:moveTo>
                      <a:pt x="1480" y="12300"/>
                    </a:moveTo>
                    <a:lnTo>
                      <a:pt x="10520" y="12300"/>
                    </a:lnTo>
                    <a:lnTo>
                      <a:pt x="10520" y="400"/>
                    </a:lnTo>
                    <a:lnTo>
                      <a:pt x="1480" y="400"/>
                    </a:lnTo>
                    <a:lnTo>
                      <a:pt x="1480" y="12300"/>
                    </a:lnTo>
                    <a:close/>
                    <a:moveTo>
                      <a:pt x="2030" y="11170"/>
                    </a:moveTo>
                    <a:lnTo>
                      <a:pt x="680" y="11170"/>
                    </a:lnTo>
                    <a:cubicBezTo>
                      <a:pt x="300" y="11170"/>
                      <a:pt x="0" y="10860"/>
                      <a:pt x="0" y="10490"/>
                    </a:cubicBezTo>
                    <a:cubicBezTo>
                      <a:pt x="0" y="10120"/>
                      <a:pt x="310" y="9810"/>
                      <a:pt x="680" y="9810"/>
                    </a:cubicBezTo>
                    <a:lnTo>
                      <a:pt x="1270" y="9810"/>
                    </a:lnTo>
                    <a:cubicBezTo>
                      <a:pt x="1380" y="9810"/>
                      <a:pt x="1470" y="9900"/>
                      <a:pt x="1470" y="10010"/>
                    </a:cubicBezTo>
                    <a:cubicBezTo>
                      <a:pt x="1470" y="10120"/>
                      <a:pt x="1380" y="10210"/>
                      <a:pt x="1270" y="10210"/>
                    </a:cubicBezTo>
                    <a:lnTo>
                      <a:pt x="680" y="10210"/>
                    </a:lnTo>
                    <a:cubicBezTo>
                      <a:pt x="520" y="10210"/>
                      <a:pt x="400" y="10340"/>
                      <a:pt x="400" y="10490"/>
                    </a:cubicBezTo>
                    <a:cubicBezTo>
                      <a:pt x="400" y="10650"/>
                      <a:pt x="530" y="10770"/>
                      <a:pt x="680" y="10770"/>
                    </a:cubicBezTo>
                    <a:lnTo>
                      <a:pt x="2030" y="10770"/>
                    </a:lnTo>
                    <a:cubicBezTo>
                      <a:pt x="2140" y="10770"/>
                      <a:pt x="2230" y="10860"/>
                      <a:pt x="2230" y="10970"/>
                    </a:cubicBezTo>
                    <a:cubicBezTo>
                      <a:pt x="2230" y="11080"/>
                      <a:pt x="2140" y="11170"/>
                      <a:pt x="2030" y="11170"/>
                    </a:cubicBezTo>
                    <a:close/>
                    <a:moveTo>
                      <a:pt x="2030" y="8410"/>
                    </a:moveTo>
                    <a:lnTo>
                      <a:pt x="680" y="8410"/>
                    </a:lnTo>
                    <a:cubicBezTo>
                      <a:pt x="300" y="8410"/>
                      <a:pt x="0" y="8100"/>
                      <a:pt x="0" y="7730"/>
                    </a:cubicBezTo>
                    <a:cubicBezTo>
                      <a:pt x="0" y="7350"/>
                      <a:pt x="310" y="7050"/>
                      <a:pt x="680" y="7050"/>
                    </a:cubicBezTo>
                    <a:lnTo>
                      <a:pt x="1270" y="7050"/>
                    </a:lnTo>
                    <a:cubicBezTo>
                      <a:pt x="1380" y="7050"/>
                      <a:pt x="1470" y="7140"/>
                      <a:pt x="1470" y="7250"/>
                    </a:cubicBezTo>
                    <a:cubicBezTo>
                      <a:pt x="1470" y="7360"/>
                      <a:pt x="1380" y="7450"/>
                      <a:pt x="1270" y="7450"/>
                    </a:cubicBezTo>
                    <a:lnTo>
                      <a:pt x="680" y="7450"/>
                    </a:lnTo>
                    <a:cubicBezTo>
                      <a:pt x="520" y="7450"/>
                      <a:pt x="400" y="7580"/>
                      <a:pt x="400" y="7730"/>
                    </a:cubicBezTo>
                    <a:cubicBezTo>
                      <a:pt x="400" y="7890"/>
                      <a:pt x="530" y="8010"/>
                      <a:pt x="680" y="8010"/>
                    </a:cubicBezTo>
                    <a:lnTo>
                      <a:pt x="2030" y="8010"/>
                    </a:lnTo>
                    <a:cubicBezTo>
                      <a:pt x="2140" y="8010"/>
                      <a:pt x="2230" y="8100"/>
                      <a:pt x="2230" y="8210"/>
                    </a:cubicBezTo>
                    <a:cubicBezTo>
                      <a:pt x="2230" y="8320"/>
                      <a:pt x="2140" y="8410"/>
                      <a:pt x="2030" y="8410"/>
                    </a:cubicBezTo>
                    <a:close/>
                    <a:moveTo>
                      <a:pt x="2030" y="5650"/>
                    </a:moveTo>
                    <a:lnTo>
                      <a:pt x="680" y="5650"/>
                    </a:lnTo>
                    <a:cubicBezTo>
                      <a:pt x="300" y="5650"/>
                      <a:pt x="0" y="5340"/>
                      <a:pt x="0" y="4970"/>
                    </a:cubicBezTo>
                    <a:cubicBezTo>
                      <a:pt x="0" y="4590"/>
                      <a:pt x="310" y="4290"/>
                      <a:pt x="680" y="4290"/>
                    </a:cubicBezTo>
                    <a:lnTo>
                      <a:pt x="1270" y="4290"/>
                    </a:lnTo>
                    <a:cubicBezTo>
                      <a:pt x="1380" y="4290"/>
                      <a:pt x="1470" y="4380"/>
                      <a:pt x="1470" y="4490"/>
                    </a:cubicBezTo>
                    <a:cubicBezTo>
                      <a:pt x="1470" y="4600"/>
                      <a:pt x="1380" y="4690"/>
                      <a:pt x="1270" y="4690"/>
                    </a:cubicBezTo>
                    <a:lnTo>
                      <a:pt x="680" y="4690"/>
                    </a:lnTo>
                    <a:cubicBezTo>
                      <a:pt x="520" y="4690"/>
                      <a:pt x="400" y="4820"/>
                      <a:pt x="400" y="4970"/>
                    </a:cubicBezTo>
                    <a:cubicBezTo>
                      <a:pt x="400" y="5130"/>
                      <a:pt x="530" y="5250"/>
                      <a:pt x="680" y="5250"/>
                    </a:cubicBezTo>
                    <a:lnTo>
                      <a:pt x="2030" y="5250"/>
                    </a:lnTo>
                    <a:cubicBezTo>
                      <a:pt x="2140" y="5250"/>
                      <a:pt x="2230" y="5340"/>
                      <a:pt x="2230" y="5450"/>
                    </a:cubicBezTo>
                    <a:cubicBezTo>
                      <a:pt x="2230" y="5560"/>
                      <a:pt x="2140" y="5650"/>
                      <a:pt x="2030" y="5650"/>
                    </a:cubicBezTo>
                    <a:close/>
                    <a:moveTo>
                      <a:pt x="2030" y="2900"/>
                    </a:moveTo>
                    <a:lnTo>
                      <a:pt x="680" y="2900"/>
                    </a:lnTo>
                    <a:cubicBezTo>
                      <a:pt x="300" y="2900"/>
                      <a:pt x="0" y="2590"/>
                      <a:pt x="0" y="2220"/>
                    </a:cubicBezTo>
                    <a:cubicBezTo>
                      <a:pt x="0" y="1850"/>
                      <a:pt x="310" y="1540"/>
                      <a:pt x="680" y="1540"/>
                    </a:cubicBezTo>
                    <a:lnTo>
                      <a:pt x="1270" y="1540"/>
                    </a:lnTo>
                    <a:cubicBezTo>
                      <a:pt x="1380" y="1540"/>
                      <a:pt x="1470" y="1630"/>
                      <a:pt x="1470" y="1740"/>
                    </a:cubicBezTo>
                    <a:cubicBezTo>
                      <a:pt x="1470" y="1850"/>
                      <a:pt x="1380" y="1940"/>
                      <a:pt x="1270" y="1940"/>
                    </a:cubicBezTo>
                    <a:lnTo>
                      <a:pt x="680" y="1940"/>
                    </a:lnTo>
                    <a:cubicBezTo>
                      <a:pt x="520" y="1940"/>
                      <a:pt x="400" y="2070"/>
                      <a:pt x="400" y="2220"/>
                    </a:cubicBezTo>
                    <a:cubicBezTo>
                      <a:pt x="400" y="2380"/>
                      <a:pt x="530" y="2500"/>
                      <a:pt x="680" y="2500"/>
                    </a:cubicBezTo>
                    <a:lnTo>
                      <a:pt x="2030" y="2500"/>
                    </a:lnTo>
                    <a:cubicBezTo>
                      <a:pt x="2140" y="2500"/>
                      <a:pt x="2230" y="2590"/>
                      <a:pt x="2230" y="2700"/>
                    </a:cubicBezTo>
                    <a:cubicBezTo>
                      <a:pt x="2230" y="2810"/>
                      <a:pt x="2140" y="2900"/>
                      <a:pt x="2030" y="2900"/>
                    </a:cubicBezTo>
                    <a:close/>
                    <a:moveTo>
                      <a:pt x="9300" y="2610"/>
                    </a:moveTo>
                    <a:lnTo>
                      <a:pt x="3760" y="2610"/>
                    </a:lnTo>
                    <a:cubicBezTo>
                      <a:pt x="3700" y="2610"/>
                      <a:pt x="3660" y="2570"/>
                      <a:pt x="3660" y="2510"/>
                    </a:cubicBezTo>
                    <a:cubicBezTo>
                      <a:pt x="3660" y="2450"/>
                      <a:pt x="3700" y="2410"/>
                      <a:pt x="3760" y="2410"/>
                    </a:cubicBezTo>
                    <a:lnTo>
                      <a:pt x="9300" y="2410"/>
                    </a:lnTo>
                    <a:cubicBezTo>
                      <a:pt x="9360" y="2410"/>
                      <a:pt x="9400" y="2450"/>
                      <a:pt x="9400" y="2510"/>
                    </a:cubicBezTo>
                    <a:cubicBezTo>
                      <a:pt x="9400" y="2560"/>
                      <a:pt x="9360" y="2610"/>
                      <a:pt x="9300" y="2610"/>
                    </a:cubicBezTo>
                    <a:close/>
                    <a:moveTo>
                      <a:pt x="9300" y="5170"/>
                    </a:moveTo>
                    <a:lnTo>
                      <a:pt x="3760" y="5170"/>
                    </a:lnTo>
                    <a:cubicBezTo>
                      <a:pt x="3700" y="5170"/>
                      <a:pt x="3660" y="5130"/>
                      <a:pt x="3660" y="5070"/>
                    </a:cubicBezTo>
                    <a:cubicBezTo>
                      <a:pt x="3660" y="5010"/>
                      <a:pt x="3700" y="4970"/>
                      <a:pt x="3760" y="4970"/>
                    </a:cubicBezTo>
                    <a:lnTo>
                      <a:pt x="9300" y="4970"/>
                    </a:lnTo>
                    <a:cubicBezTo>
                      <a:pt x="9360" y="4970"/>
                      <a:pt x="9400" y="5010"/>
                      <a:pt x="9400" y="5070"/>
                    </a:cubicBezTo>
                    <a:cubicBezTo>
                      <a:pt x="9400" y="5120"/>
                      <a:pt x="9360" y="5170"/>
                      <a:pt x="9300" y="5170"/>
                    </a:cubicBezTo>
                    <a:close/>
                    <a:moveTo>
                      <a:pt x="9300" y="7730"/>
                    </a:moveTo>
                    <a:lnTo>
                      <a:pt x="3760" y="7730"/>
                    </a:lnTo>
                    <a:cubicBezTo>
                      <a:pt x="3700" y="7730"/>
                      <a:pt x="3660" y="7690"/>
                      <a:pt x="3660" y="7630"/>
                    </a:cubicBezTo>
                    <a:cubicBezTo>
                      <a:pt x="3660" y="7570"/>
                      <a:pt x="3700" y="7530"/>
                      <a:pt x="3760" y="7530"/>
                    </a:cubicBezTo>
                    <a:lnTo>
                      <a:pt x="9300" y="7530"/>
                    </a:lnTo>
                    <a:cubicBezTo>
                      <a:pt x="9360" y="7530"/>
                      <a:pt x="9400" y="7570"/>
                      <a:pt x="9400" y="7630"/>
                    </a:cubicBezTo>
                    <a:cubicBezTo>
                      <a:pt x="9400" y="7690"/>
                      <a:pt x="9360" y="7730"/>
                      <a:pt x="9300" y="7730"/>
                    </a:cubicBezTo>
                    <a:close/>
                    <a:moveTo>
                      <a:pt x="9300" y="10290"/>
                    </a:moveTo>
                    <a:lnTo>
                      <a:pt x="3760" y="10290"/>
                    </a:lnTo>
                    <a:cubicBezTo>
                      <a:pt x="3700" y="10290"/>
                      <a:pt x="3660" y="10250"/>
                      <a:pt x="3660" y="10190"/>
                    </a:cubicBezTo>
                    <a:cubicBezTo>
                      <a:pt x="3660" y="10130"/>
                      <a:pt x="3700" y="10090"/>
                      <a:pt x="3760" y="10090"/>
                    </a:cubicBezTo>
                    <a:lnTo>
                      <a:pt x="9300" y="10090"/>
                    </a:lnTo>
                    <a:cubicBezTo>
                      <a:pt x="9360" y="10090"/>
                      <a:pt x="9400" y="10130"/>
                      <a:pt x="9400" y="10190"/>
                    </a:cubicBezTo>
                    <a:cubicBezTo>
                      <a:pt x="9400" y="10250"/>
                      <a:pt x="9360" y="10290"/>
                      <a:pt x="9300" y="1029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53" name="Group 22"/>
            <p:cNvGrpSpPr/>
            <p:nvPr/>
          </p:nvGrpSpPr>
          <p:grpSpPr>
            <a:xfrm>
              <a:off x="11016336" y="6199772"/>
              <a:ext cx="350003" cy="350003"/>
              <a:chOff x="8516390" y="7193443"/>
              <a:chExt cx="658929" cy="658929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8516390" y="7193443"/>
                <a:ext cx="658929" cy="658929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iconfont-11964-5737133"/>
              <p:cNvSpPr/>
              <p:nvPr/>
            </p:nvSpPr>
            <p:spPr>
              <a:xfrm>
                <a:off x="8648783" y="7390062"/>
                <a:ext cx="394143" cy="265689"/>
              </a:xfrm>
              <a:custGeom>
                <a:avLst/>
                <a:gdLst>
                  <a:gd name="connsiteX0" fmla="*/ 589335 w 607991"/>
                  <a:gd name="connsiteY0" fmla="*/ 318484 h 409844"/>
                  <a:gd name="connsiteX1" fmla="*/ 451329 w 607991"/>
                  <a:gd name="connsiteY1" fmla="*/ 361485 h 409844"/>
                  <a:gd name="connsiteX2" fmla="*/ 418873 w 607991"/>
                  <a:gd name="connsiteY2" fmla="*/ 359698 h 409844"/>
                  <a:gd name="connsiteX3" fmla="*/ 389866 w 607991"/>
                  <a:gd name="connsiteY3" fmla="*/ 384197 h 409844"/>
                  <a:gd name="connsiteX4" fmla="*/ 451329 w 607991"/>
                  <a:gd name="connsiteY4" fmla="*/ 391087 h 409844"/>
                  <a:gd name="connsiteX5" fmla="*/ 551383 w 607991"/>
                  <a:gd name="connsiteY5" fmla="*/ 370544 h 409844"/>
                  <a:gd name="connsiteX6" fmla="*/ 589335 w 607991"/>
                  <a:gd name="connsiteY6" fmla="*/ 326906 h 409844"/>
                  <a:gd name="connsiteX7" fmla="*/ 18784 w 607991"/>
                  <a:gd name="connsiteY7" fmla="*/ 318484 h 409844"/>
                  <a:gd name="connsiteX8" fmla="*/ 18784 w 607991"/>
                  <a:gd name="connsiteY8" fmla="*/ 326906 h 409844"/>
                  <a:gd name="connsiteX9" fmla="*/ 56735 w 607991"/>
                  <a:gd name="connsiteY9" fmla="*/ 370544 h 409844"/>
                  <a:gd name="connsiteX10" fmla="*/ 156662 w 607991"/>
                  <a:gd name="connsiteY10" fmla="*/ 391087 h 409844"/>
                  <a:gd name="connsiteX11" fmla="*/ 218125 w 607991"/>
                  <a:gd name="connsiteY11" fmla="*/ 384197 h 409844"/>
                  <a:gd name="connsiteX12" fmla="*/ 189246 w 607991"/>
                  <a:gd name="connsiteY12" fmla="*/ 359698 h 409844"/>
                  <a:gd name="connsiteX13" fmla="*/ 156662 w 607991"/>
                  <a:gd name="connsiteY13" fmla="*/ 361485 h 409844"/>
                  <a:gd name="connsiteX14" fmla="*/ 18784 w 607991"/>
                  <a:gd name="connsiteY14" fmla="*/ 318484 h 409844"/>
                  <a:gd name="connsiteX15" fmla="*/ 589335 w 607991"/>
                  <a:gd name="connsiteY15" fmla="*/ 269104 h 409844"/>
                  <a:gd name="connsiteX16" fmla="*/ 451329 w 607991"/>
                  <a:gd name="connsiteY16" fmla="*/ 312104 h 409844"/>
                  <a:gd name="connsiteX17" fmla="*/ 449285 w 607991"/>
                  <a:gd name="connsiteY17" fmla="*/ 312104 h 409844"/>
                  <a:gd name="connsiteX18" fmla="*/ 433056 w 607991"/>
                  <a:gd name="connsiteY18" fmla="*/ 342090 h 409844"/>
                  <a:gd name="connsiteX19" fmla="*/ 451329 w 607991"/>
                  <a:gd name="connsiteY19" fmla="*/ 342728 h 409844"/>
                  <a:gd name="connsiteX20" fmla="*/ 551383 w 607991"/>
                  <a:gd name="connsiteY20" fmla="*/ 322185 h 409844"/>
                  <a:gd name="connsiteX21" fmla="*/ 589335 w 607991"/>
                  <a:gd name="connsiteY21" fmla="*/ 278546 h 409844"/>
                  <a:gd name="connsiteX22" fmla="*/ 18784 w 607991"/>
                  <a:gd name="connsiteY22" fmla="*/ 269104 h 409844"/>
                  <a:gd name="connsiteX23" fmla="*/ 18784 w 607991"/>
                  <a:gd name="connsiteY23" fmla="*/ 278546 h 409844"/>
                  <a:gd name="connsiteX24" fmla="*/ 56735 w 607991"/>
                  <a:gd name="connsiteY24" fmla="*/ 322185 h 409844"/>
                  <a:gd name="connsiteX25" fmla="*/ 156662 w 607991"/>
                  <a:gd name="connsiteY25" fmla="*/ 342728 h 409844"/>
                  <a:gd name="connsiteX26" fmla="*/ 175062 w 607991"/>
                  <a:gd name="connsiteY26" fmla="*/ 342090 h 409844"/>
                  <a:gd name="connsiteX27" fmla="*/ 158834 w 607991"/>
                  <a:gd name="connsiteY27" fmla="*/ 312104 h 409844"/>
                  <a:gd name="connsiteX28" fmla="*/ 156662 w 607991"/>
                  <a:gd name="connsiteY28" fmla="*/ 312104 h 409844"/>
                  <a:gd name="connsiteX29" fmla="*/ 18784 w 607991"/>
                  <a:gd name="connsiteY29" fmla="*/ 269104 h 409844"/>
                  <a:gd name="connsiteX30" fmla="*/ 313455 w 607991"/>
                  <a:gd name="connsiteY30" fmla="*/ 263472 h 409844"/>
                  <a:gd name="connsiteX31" fmla="*/ 313455 w 607991"/>
                  <a:gd name="connsiteY31" fmla="*/ 269086 h 409844"/>
                  <a:gd name="connsiteX32" fmla="*/ 313455 w 607991"/>
                  <a:gd name="connsiteY32" fmla="*/ 278526 h 409844"/>
                  <a:gd name="connsiteX33" fmla="*/ 313455 w 607991"/>
                  <a:gd name="connsiteY33" fmla="*/ 318458 h 409844"/>
                  <a:gd name="connsiteX34" fmla="*/ 313455 w 607991"/>
                  <a:gd name="connsiteY34" fmla="*/ 325347 h 409844"/>
                  <a:gd name="connsiteX35" fmla="*/ 313455 w 607991"/>
                  <a:gd name="connsiteY35" fmla="*/ 326878 h 409844"/>
                  <a:gd name="connsiteX36" fmla="*/ 313455 w 607991"/>
                  <a:gd name="connsiteY36" fmla="*/ 327133 h 409844"/>
                  <a:gd name="connsiteX37" fmla="*/ 321118 w 607991"/>
                  <a:gd name="connsiteY37" fmla="*/ 325220 h 409844"/>
                  <a:gd name="connsiteX38" fmla="*/ 338618 w 607991"/>
                  <a:gd name="connsiteY38" fmla="*/ 314758 h 409844"/>
                  <a:gd name="connsiteX39" fmla="*/ 347176 w 607991"/>
                  <a:gd name="connsiteY39" fmla="*/ 295366 h 409844"/>
                  <a:gd name="connsiteX40" fmla="*/ 346792 w 607991"/>
                  <a:gd name="connsiteY40" fmla="*/ 291412 h 409844"/>
                  <a:gd name="connsiteX41" fmla="*/ 313455 w 607991"/>
                  <a:gd name="connsiteY41" fmla="*/ 263472 h 409844"/>
                  <a:gd name="connsiteX42" fmla="*/ 589335 w 607991"/>
                  <a:gd name="connsiteY42" fmla="*/ 220617 h 409844"/>
                  <a:gd name="connsiteX43" fmla="*/ 460402 w 607991"/>
                  <a:gd name="connsiteY43" fmla="*/ 263490 h 409844"/>
                  <a:gd name="connsiteX44" fmla="*/ 455546 w 607991"/>
                  <a:gd name="connsiteY44" fmla="*/ 293347 h 409844"/>
                  <a:gd name="connsiteX45" fmla="*/ 551383 w 607991"/>
                  <a:gd name="connsiteY45" fmla="*/ 272804 h 409844"/>
                  <a:gd name="connsiteX46" fmla="*/ 589335 w 607991"/>
                  <a:gd name="connsiteY46" fmla="*/ 229166 h 409844"/>
                  <a:gd name="connsiteX47" fmla="*/ 18784 w 607991"/>
                  <a:gd name="connsiteY47" fmla="*/ 220617 h 409844"/>
                  <a:gd name="connsiteX48" fmla="*/ 18784 w 607991"/>
                  <a:gd name="connsiteY48" fmla="*/ 229166 h 409844"/>
                  <a:gd name="connsiteX49" fmla="*/ 56735 w 607991"/>
                  <a:gd name="connsiteY49" fmla="*/ 272804 h 409844"/>
                  <a:gd name="connsiteX50" fmla="*/ 152573 w 607991"/>
                  <a:gd name="connsiteY50" fmla="*/ 293347 h 409844"/>
                  <a:gd name="connsiteX51" fmla="*/ 147717 w 607991"/>
                  <a:gd name="connsiteY51" fmla="*/ 263490 h 409844"/>
                  <a:gd name="connsiteX52" fmla="*/ 18784 w 607991"/>
                  <a:gd name="connsiteY52" fmla="*/ 220617 h 409844"/>
                  <a:gd name="connsiteX53" fmla="*/ 294678 w 607991"/>
                  <a:gd name="connsiteY53" fmla="*/ 179526 h 409844"/>
                  <a:gd name="connsiteX54" fmla="*/ 260957 w 607991"/>
                  <a:gd name="connsiteY54" fmla="*/ 211421 h 409844"/>
                  <a:gd name="connsiteX55" fmla="*/ 262873 w 607991"/>
                  <a:gd name="connsiteY55" fmla="*/ 221116 h 409844"/>
                  <a:gd name="connsiteX56" fmla="*/ 275135 w 607991"/>
                  <a:gd name="connsiteY56" fmla="*/ 235533 h 409844"/>
                  <a:gd name="connsiteX57" fmla="*/ 291357 w 607991"/>
                  <a:gd name="connsiteY57" fmla="*/ 242549 h 409844"/>
                  <a:gd name="connsiteX58" fmla="*/ 294678 w 607991"/>
                  <a:gd name="connsiteY58" fmla="*/ 243187 h 409844"/>
                  <a:gd name="connsiteX59" fmla="*/ 294678 w 607991"/>
                  <a:gd name="connsiteY59" fmla="*/ 229154 h 409844"/>
                  <a:gd name="connsiteX60" fmla="*/ 294678 w 607991"/>
                  <a:gd name="connsiteY60" fmla="*/ 220606 h 409844"/>
                  <a:gd name="connsiteX61" fmla="*/ 294678 w 607991"/>
                  <a:gd name="connsiteY61" fmla="*/ 180674 h 409844"/>
                  <a:gd name="connsiteX62" fmla="*/ 589335 w 607991"/>
                  <a:gd name="connsiteY62" fmla="*/ 171364 h 409844"/>
                  <a:gd name="connsiteX63" fmla="*/ 455802 w 607991"/>
                  <a:gd name="connsiteY63" fmla="*/ 214237 h 409844"/>
                  <a:gd name="connsiteX64" fmla="*/ 460530 w 607991"/>
                  <a:gd name="connsiteY64" fmla="*/ 244733 h 409844"/>
                  <a:gd name="connsiteX65" fmla="*/ 551383 w 607991"/>
                  <a:gd name="connsiteY65" fmla="*/ 224317 h 409844"/>
                  <a:gd name="connsiteX66" fmla="*/ 589335 w 607991"/>
                  <a:gd name="connsiteY66" fmla="*/ 180679 h 409844"/>
                  <a:gd name="connsiteX67" fmla="*/ 304002 w 607991"/>
                  <a:gd name="connsiteY67" fmla="*/ 139084 h 409844"/>
                  <a:gd name="connsiteX68" fmla="*/ 313455 w 607991"/>
                  <a:gd name="connsiteY68" fmla="*/ 148397 h 409844"/>
                  <a:gd name="connsiteX69" fmla="*/ 313455 w 607991"/>
                  <a:gd name="connsiteY69" fmla="*/ 160645 h 409844"/>
                  <a:gd name="connsiteX70" fmla="*/ 364547 w 607991"/>
                  <a:gd name="connsiteY70" fmla="*/ 200832 h 409844"/>
                  <a:gd name="connsiteX71" fmla="*/ 365952 w 607991"/>
                  <a:gd name="connsiteY71" fmla="*/ 211421 h 409844"/>
                  <a:gd name="connsiteX72" fmla="*/ 356500 w 607991"/>
                  <a:gd name="connsiteY72" fmla="*/ 220734 h 409844"/>
                  <a:gd name="connsiteX73" fmla="*/ 347176 w 607991"/>
                  <a:gd name="connsiteY73" fmla="*/ 211421 h 409844"/>
                  <a:gd name="connsiteX74" fmla="*/ 313455 w 607991"/>
                  <a:gd name="connsiteY74" fmla="*/ 179526 h 409844"/>
                  <a:gd name="connsiteX75" fmla="*/ 313455 w 607991"/>
                  <a:gd name="connsiteY75" fmla="*/ 180674 h 409844"/>
                  <a:gd name="connsiteX76" fmla="*/ 313455 w 607991"/>
                  <a:gd name="connsiteY76" fmla="*/ 220606 h 409844"/>
                  <a:gd name="connsiteX77" fmla="*/ 313455 w 607991"/>
                  <a:gd name="connsiteY77" fmla="*/ 229154 h 409844"/>
                  <a:gd name="connsiteX78" fmla="*/ 313455 w 607991"/>
                  <a:gd name="connsiteY78" fmla="*/ 244591 h 409844"/>
                  <a:gd name="connsiteX79" fmla="*/ 318181 w 607991"/>
                  <a:gd name="connsiteY79" fmla="*/ 245356 h 409844"/>
                  <a:gd name="connsiteX80" fmla="*/ 362120 w 607991"/>
                  <a:gd name="connsiteY80" fmla="*/ 277633 h 409844"/>
                  <a:gd name="connsiteX81" fmla="*/ 365952 w 607991"/>
                  <a:gd name="connsiteY81" fmla="*/ 295366 h 409844"/>
                  <a:gd name="connsiteX82" fmla="*/ 365697 w 607991"/>
                  <a:gd name="connsiteY82" fmla="*/ 298939 h 409844"/>
                  <a:gd name="connsiteX83" fmla="*/ 355351 w 607991"/>
                  <a:gd name="connsiteY83" fmla="*/ 323944 h 409844"/>
                  <a:gd name="connsiteX84" fmla="*/ 339767 w 607991"/>
                  <a:gd name="connsiteY84" fmla="*/ 337212 h 409844"/>
                  <a:gd name="connsiteX85" fmla="*/ 319458 w 607991"/>
                  <a:gd name="connsiteY85" fmla="*/ 344994 h 409844"/>
                  <a:gd name="connsiteX86" fmla="*/ 313455 w 607991"/>
                  <a:gd name="connsiteY86" fmla="*/ 346015 h 409844"/>
                  <a:gd name="connsiteX87" fmla="*/ 313455 w 607991"/>
                  <a:gd name="connsiteY87" fmla="*/ 358262 h 409844"/>
                  <a:gd name="connsiteX88" fmla="*/ 311028 w 607991"/>
                  <a:gd name="connsiteY88" fmla="*/ 364386 h 409844"/>
                  <a:gd name="connsiteX89" fmla="*/ 304002 w 607991"/>
                  <a:gd name="connsiteY89" fmla="*/ 367575 h 409844"/>
                  <a:gd name="connsiteX90" fmla="*/ 296977 w 607991"/>
                  <a:gd name="connsiteY90" fmla="*/ 364386 h 409844"/>
                  <a:gd name="connsiteX91" fmla="*/ 294678 w 607991"/>
                  <a:gd name="connsiteY91" fmla="*/ 358262 h 409844"/>
                  <a:gd name="connsiteX92" fmla="*/ 294678 w 607991"/>
                  <a:gd name="connsiteY92" fmla="*/ 346015 h 409844"/>
                  <a:gd name="connsiteX93" fmla="*/ 288675 w 607991"/>
                  <a:gd name="connsiteY93" fmla="*/ 344994 h 409844"/>
                  <a:gd name="connsiteX94" fmla="*/ 268365 w 607991"/>
                  <a:gd name="connsiteY94" fmla="*/ 337212 h 409844"/>
                  <a:gd name="connsiteX95" fmla="*/ 252782 w 607991"/>
                  <a:gd name="connsiteY95" fmla="*/ 323944 h 409844"/>
                  <a:gd name="connsiteX96" fmla="*/ 242308 w 607991"/>
                  <a:gd name="connsiteY96" fmla="*/ 298939 h 409844"/>
                  <a:gd name="connsiteX97" fmla="*/ 242180 w 607991"/>
                  <a:gd name="connsiteY97" fmla="*/ 295239 h 409844"/>
                  <a:gd name="connsiteX98" fmla="*/ 251505 w 607991"/>
                  <a:gd name="connsiteY98" fmla="*/ 285926 h 409844"/>
                  <a:gd name="connsiteX99" fmla="*/ 260190 w 607991"/>
                  <a:gd name="connsiteY99" fmla="*/ 291922 h 409844"/>
                  <a:gd name="connsiteX100" fmla="*/ 260957 w 607991"/>
                  <a:gd name="connsiteY100" fmla="*/ 295239 h 409844"/>
                  <a:gd name="connsiteX101" fmla="*/ 269515 w 607991"/>
                  <a:gd name="connsiteY101" fmla="*/ 314758 h 409844"/>
                  <a:gd name="connsiteX102" fmla="*/ 286886 w 607991"/>
                  <a:gd name="connsiteY102" fmla="*/ 325220 h 409844"/>
                  <a:gd name="connsiteX103" fmla="*/ 294678 w 607991"/>
                  <a:gd name="connsiteY103" fmla="*/ 327133 h 409844"/>
                  <a:gd name="connsiteX104" fmla="*/ 294678 w 607991"/>
                  <a:gd name="connsiteY104" fmla="*/ 326878 h 409844"/>
                  <a:gd name="connsiteX105" fmla="*/ 294678 w 607991"/>
                  <a:gd name="connsiteY105" fmla="*/ 325347 h 409844"/>
                  <a:gd name="connsiteX106" fmla="*/ 294678 w 607991"/>
                  <a:gd name="connsiteY106" fmla="*/ 318458 h 409844"/>
                  <a:gd name="connsiteX107" fmla="*/ 294678 w 607991"/>
                  <a:gd name="connsiteY107" fmla="*/ 278526 h 409844"/>
                  <a:gd name="connsiteX108" fmla="*/ 294678 w 607991"/>
                  <a:gd name="connsiteY108" fmla="*/ 269086 h 409844"/>
                  <a:gd name="connsiteX109" fmla="*/ 294678 w 607991"/>
                  <a:gd name="connsiteY109" fmla="*/ 262069 h 409844"/>
                  <a:gd name="connsiteX110" fmla="*/ 278839 w 607991"/>
                  <a:gd name="connsiteY110" fmla="*/ 258241 h 409844"/>
                  <a:gd name="connsiteX111" fmla="*/ 257125 w 607991"/>
                  <a:gd name="connsiteY111" fmla="*/ 244846 h 409844"/>
                  <a:gd name="connsiteX112" fmla="*/ 246012 w 607991"/>
                  <a:gd name="connsiteY112" fmla="*/ 229154 h 409844"/>
                  <a:gd name="connsiteX113" fmla="*/ 242180 w 607991"/>
                  <a:gd name="connsiteY113" fmla="*/ 211421 h 409844"/>
                  <a:gd name="connsiteX114" fmla="*/ 288036 w 607991"/>
                  <a:gd name="connsiteY114" fmla="*/ 161793 h 409844"/>
                  <a:gd name="connsiteX115" fmla="*/ 294678 w 607991"/>
                  <a:gd name="connsiteY115" fmla="*/ 160645 h 409844"/>
                  <a:gd name="connsiteX116" fmla="*/ 294678 w 607991"/>
                  <a:gd name="connsiteY116" fmla="*/ 148397 h 409844"/>
                  <a:gd name="connsiteX117" fmla="*/ 296211 w 607991"/>
                  <a:gd name="connsiteY117" fmla="*/ 143294 h 409844"/>
                  <a:gd name="connsiteX118" fmla="*/ 296594 w 607991"/>
                  <a:gd name="connsiteY118" fmla="*/ 142784 h 409844"/>
                  <a:gd name="connsiteX119" fmla="*/ 304002 w 607991"/>
                  <a:gd name="connsiteY119" fmla="*/ 139084 h 409844"/>
                  <a:gd name="connsiteX120" fmla="*/ 589335 w 607991"/>
                  <a:gd name="connsiteY120" fmla="*/ 122876 h 409844"/>
                  <a:gd name="connsiteX121" fmla="*/ 451329 w 607991"/>
                  <a:gd name="connsiteY121" fmla="*/ 165877 h 409844"/>
                  <a:gd name="connsiteX122" fmla="*/ 433568 w 607991"/>
                  <a:gd name="connsiteY122" fmla="*/ 165367 h 409844"/>
                  <a:gd name="connsiteX123" fmla="*/ 449668 w 607991"/>
                  <a:gd name="connsiteY123" fmla="*/ 195608 h 409844"/>
                  <a:gd name="connsiteX124" fmla="*/ 451329 w 607991"/>
                  <a:gd name="connsiteY124" fmla="*/ 195608 h 409844"/>
                  <a:gd name="connsiteX125" fmla="*/ 551383 w 607991"/>
                  <a:gd name="connsiteY125" fmla="*/ 175064 h 409844"/>
                  <a:gd name="connsiteX126" fmla="*/ 589335 w 607991"/>
                  <a:gd name="connsiteY126" fmla="*/ 131425 h 409844"/>
                  <a:gd name="connsiteX127" fmla="*/ 156662 w 607991"/>
                  <a:gd name="connsiteY127" fmla="*/ 116497 h 409844"/>
                  <a:gd name="connsiteX128" fmla="*/ 56735 w 607991"/>
                  <a:gd name="connsiteY128" fmla="*/ 137040 h 409844"/>
                  <a:gd name="connsiteX129" fmla="*/ 18784 w 607991"/>
                  <a:gd name="connsiteY129" fmla="*/ 180679 h 409844"/>
                  <a:gd name="connsiteX130" fmla="*/ 56735 w 607991"/>
                  <a:gd name="connsiteY130" fmla="*/ 224317 h 409844"/>
                  <a:gd name="connsiteX131" fmla="*/ 147589 w 607991"/>
                  <a:gd name="connsiteY131" fmla="*/ 244733 h 409844"/>
                  <a:gd name="connsiteX132" fmla="*/ 217103 w 607991"/>
                  <a:gd name="connsiteY132" fmla="*/ 123259 h 409844"/>
                  <a:gd name="connsiteX133" fmla="*/ 156662 w 607991"/>
                  <a:gd name="connsiteY133" fmla="*/ 116497 h 409844"/>
                  <a:gd name="connsiteX134" fmla="*/ 303996 w 607991"/>
                  <a:gd name="connsiteY134" fmla="*/ 115603 h 409844"/>
                  <a:gd name="connsiteX135" fmla="*/ 294668 w 607991"/>
                  <a:gd name="connsiteY135" fmla="*/ 115986 h 409844"/>
                  <a:gd name="connsiteX136" fmla="*/ 266172 w 607991"/>
                  <a:gd name="connsiteY136" fmla="*/ 120835 h 409844"/>
                  <a:gd name="connsiteX137" fmla="*/ 241637 w 607991"/>
                  <a:gd name="connsiteY137" fmla="*/ 130532 h 409844"/>
                  <a:gd name="connsiteX138" fmla="*/ 166373 w 607991"/>
                  <a:gd name="connsiteY138" fmla="*/ 244733 h 409844"/>
                  <a:gd name="connsiteX139" fmla="*/ 166118 w 607991"/>
                  <a:gd name="connsiteY139" fmla="*/ 253409 h 409844"/>
                  <a:gd name="connsiteX140" fmla="*/ 166501 w 607991"/>
                  <a:gd name="connsiteY140" fmla="*/ 263490 h 409844"/>
                  <a:gd name="connsiteX141" fmla="*/ 171868 w 607991"/>
                  <a:gd name="connsiteY141" fmla="*/ 292965 h 409844"/>
                  <a:gd name="connsiteX142" fmla="*/ 178896 w 607991"/>
                  <a:gd name="connsiteY142" fmla="*/ 311339 h 409844"/>
                  <a:gd name="connsiteX143" fmla="*/ 196785 w 607991"/>
                  <a:gd name="connsiteY143" fmla="*/ 339921 h 409844"/>
                  <a:gd name="connsiteX144" fmla="*/ 212375 w 607991"/>
                  <a:gd name="connsiteY144" fmla="*/ 356253 h 409844"/>
                  <a:gd name="connsiteX145" fmla="*/ 242660 w 607991"/>
                  <a:gd name="connsiteY145" fmla="*/ 376669 h 409844"/>
                  <a:gd name="connsiteX146" fmla="*/ 267322 w 607991"/>
                  <a:gd name="connsiteY146" fmla="*/ 386111 h 409844"/>
                  <a:gd name="connsiteX147" fmla="*/ 303996 w 607991"/>
                  <a:gd name="connsiteY147" fmla="*/ 391087 h 409844"/>
                  <a:gd name="connsiteX148" fmla="*/ 340669 w 607991"/>
                  <a:gd name="connsiteY148" fmla="*/ 386111 h 409844"/>
                  <a:gd name="connsiteX149" fmla="*/ 365459 w 607991"/>
                  <a:gd name="connsiteY149" fmla="*/ 376669 h 409844"/>
                  <a:gd name="connsiteX150" fmla="*/ 395744 w 607991"/>
                  <a:gd name="connsiteY150" fmla="*/ 356253 h 409844"/>
                  <a:gd name="connsiteX151" fmla="*/ 411333 w 607991"/>
                  <a:gd name="connsiteY151" fmla="*/ 339921 h 409844"/>
                  <a:gd name="connsiteX152" fmla="*/ 429223 w 607991"/>
                  <a:gd name="connsiteY152" fmla="*/ 311339 h 409844"/>
                  <a:gd name="connsiteX153" fmla="*/ 436123 w 607991"/>
                  <a:gd name="connsiteY153" fmla="*/ 292965 h 409844"/>
                  <a:gd name="connsiteX154" fmla="*/ 441618 w 607991"/>
                  <a:gd name="connsiteY154" fmla="*/ 263490 h 409844"/>
                  <a:gd name="connsiteX155" fmla="*/ 442001 w 607991"/>
                  <a:gd name="connsiteY155" fmla="*/ 253409 h 409844"/>
                  <a:gd name="connsiteX156" fmla="*/ 441746 w 607991"/>
                  <a:gd name="connsiteY156" fmla="*/ 244733 h 409844"/>
                  <a:gd name="connsiteX157" fmla="*/ 436251 w 607991"/>
                  <a:gd name="connsiteY157" fmla="*/ 213982 h 409844"/>
                  <a:gd name="connsiteX158" fmla="*/ 428840 w 607991"/>
                  <a:gd name="connsiteY158" fmla="*/ 194714 h 409844"/>
                  <a:gd name="connsiteX159" fmla="*/ 407883 w 607991"/>
                  <a:gd name="connsiteY159" fmla="*/ 162815 h 409844"/>
                  <a:gd name="connsiteX160" fmla="*/ 377726 w 607991"/>
                  <a:gd name="connsiteY160" fmla="*/ 136912 h 409844"/>
                  <a:gd name="connsiteX161" fmla="*/ 340542 w 607991"/>
                  <a:gd name="connsiteY161" fmla="*/ 120580 h 409844"/>
                  <a:gd name="connsiteX162" fmla="*/ 313452 w 607991"/>
                  <a:gd name="connsiteY162" fmla="*/ 115986 h 409844"/>
                  <a:gd name="connsiteX163" fmla="*/ 306935 w 607991"/>
                  <a:gd name="connsiteY163" fmla="*/ 115603 h 409844"/>
                  <a:gd name="connsiteX164" fmla="*/ 303996 w 607991"/>
                  <a:gd name="connsiteY164" fmla="*/ 115603 h 409844"/>
                  <a:gd name="connsiteX165" fmla="*/ 451329 w 607991"/>
                  <a:gd name="connsiteY165" fmla="*/ 18757 h 409844"/>
                  <a:gd name="connsiteX166" fmla="*/ 351403 w 607991"/>
                  <a:gd name="connsiteY166" fmla="*/ 39300 h 409844"/>
                  <a:gd name="connsiteX167" fmla="*/ 313452 w 607991"/>
                  <a:gd name="connsiteY167" fmla="*/ 82938 h 409844"/>
                  <a:gd name="connsiteX168" fmla="*/ 317285 w 607991"/>
                  <a:gd name="connsiteY168" fmla="*/ 97484 h 409844"/>
                  <a:gd name="connsiteX169" fmla="*/ 417084 w 607991"/>
                  <a:gd name="connsiteY169" fmla="*/ 145079 h 409844"/>
                  <a:gd name="connsiteX170" fmla="*/ 451329 w 607991"/>
                  <a:gd name="connsiteY170" fmla="*/ 147120 h 409844"/>
                  <a:gd name="connsiteX171" fmla="*/ 551383 w 607991"/>
                  <a:gd name="connsiteY171" fmla="*/ 126577 h 409844"/>
                  <a:gd name="connsiteX172" fmla="*/ 589335 w 607991"/>
                  <a:gd name="connsiteY172" fmla="*/ 82938 h 409844"/>
                  <a:gd name="connsiteX173" fmla="*/ 551383 w 607991"/>
                  <a:gd name="connsiteY173" fmla="*/ 39300 h 409844"/>
                  <a:gd name="connsiteX174" fmla="*/ 451329 w 607991"/>
                  <a:gd name="connsiteY174" fmla="*/ 18757 h 409844"/>
                  <a:gd name="connsiteX175" fmla="*/ 451329 w 607991"/>
                  <a:gd name="connsiteY175" fmla="*/ 0 h 409844"/>
                  <a:gd name="connsiteX176" fmla="*/ 607991 w 607991"/>
                  <a:gd name="connsiteY176" fmla="*/ 82938 h 409844"/>
                  <a:gd name="connsiteX177" fmla="*/ 607991 w 607991"/>
                  <a:gd name="connsiteY177" fmla="*/ 131425 h 409844"/>
                  <a:gd name="connsiteX178" fmla="*/ 607991 w 607991"/>
                  <a:gd name="connsiteY178" fmla="*/ 180679 h 409844"/>
                  <a:gd name="connsiteX179" fmla="*/ 607991 w 607991"/>
                  <a:gd name="connsiteY179" fmla="*/ 229166 h 409844"/>
                  <a:gd name="connsiteX180" fmla="*/ 607991 w 607991"/>
                  <a:gd name="connsiteY180" fmla="*/ 278546 h 409844"/>
                  <a:gd name="connsiteX181" fmla="*/ 607991 w 607991"/>
                  <a:gd name="connsiteY181" fmla="*/ 326906 h 409844"/>
                  <a:gd name="connsiteX182" fmla="*/ 451329 w 607991"/>
                  <a:gd name="connsiteY182" fmla="*/ 409844 h 409844"/>
                  <a:gd name="connsiteX183" fmla="*/ 366354 w 607991"/>
                  <a:gd name="connsiteY183" fmla="*/ 396957 h 409844"/>
                  <a:gd name="connsiteX184" fmla="*/ 303996 w 607991"/>
                  <a:gd name="connsiteY184" fmla="*/ 409844 h 409844"/>
                  <a:gd name="connsiteX185" fmla="*/ 241765 w 607991"/>
                  <a:gd name="connsiteY185" fmla="*/ 396957 h 409844"/>
                  <a:gd name="connsiteX186" fmla="*/ 156662 w 607991"/>
                  <a:gd name="connsiteY186" fmla="*/ 409844 h 409844"/>
                  <a:gd name="connsiteX187" fmla="*/ 0 w 607991"/>
                  <a:gd name="connsiteY187" fmla="*/ 326906 h 409844"/>
                  <a:gd name="connsiteX188" fmla="*/ 0 w 607991"/>
                  <a:gd name="connsiteY188" fmla="*/ 278546 h 409844"/>
                  <a:gd name="connsiteX189" fmla="*/ 0 w 607991"/>
                  <a:gd name="connsiteY189" fmla="*/ 229166 h 409844"/>
                  <a:gd name="connsiteX190" fmla="*/ 0 w 607991"/>
                  <a:gd name="connsiteY190" fmla="*/ 180679 h 409844"/>
                  <a:gd name="connsiteX191" fmla="*/ 156662 w 607991"/>
                  <a:gd name="connsiteY191" fmla="*/ 97867 h 409844"/>
                  <a:gd name="connsiteX192" fmla="*/ 240615 w 607991"/>
                  <a:gd name="connsiteY192" fmla="*/ 110372 h 409844"/>
                  <a:gd name="connsiteX193" fmla="*/ 294668 w 607991"/>
                  <a:gd name="connsiteY193" fmla="*/ 97229 h 409844"/>
                  <a:gd name="connsiteX194" fmla="*/ 294668 w 607991"/>
                  <a:gd name="connsiteY194" fmla="*/ 82938 h 409844"/>
                  <a:gd name="connsiteX195" fmla="*/ 451329 w 607991"/>
                  <a:gd name="connsiteY195" fmla="*/ 0 h 409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</a:cxnLst>
                <a:rect l="l" t="t" r="r" b="b"/>
                <a:pathLst>
                  <a:path w="607991" h="409844">
                    <a:moveTo>
                      <a:pt x="589335" y="318484"/>
                    </a:moveTo>
                    <a:cubicBezTo>
                      <a:pt x="563012" y="344259"/>
                      <a:pt x="511643" y="361485"/>
                      <a:pt x="451329" y="361485"/>
                    </a:cubicBezTo>
                    <a:cubicBezTo>
                      <a:pt x="440212" y="361485"/>
                      <a:pt x="429351" y="360847"/>
                      <a:pt x="418873" y="359698"/>
                    </a:cubicBezTo>
                    <a:cubicBezTo>
                      <a:pt x="410183" y="369013"/>
                      <a:pt x="400472" y="377179"/>
                      <a:pt x="389866" y="384197"/>
                    </a:cubicBezTo>
                    <a:cubicBezTo>
                      <a:pt x="408778" y="388791"/>
                      <a:pt x="429606" y="391087"/>
                      <a:pt x="451329" y="391087"/>
                    </a:cubicBezTo>
                    <a:cubicBezTo>
                      <a:pt x="489281" y="391087"/>
                      <a:pt x="524805" y="383814"/>
                      <a:pt x="551383" y="370544"/>
                    </a:cubicBezTo>
                    <a:cubicBezTo>
                      <a:pt x="575407" y="358550"/>
                      <a:pt x="589335" y="342600"/>
                      <a:pt x="589335" y="326906"/>
                    </a:cubicBezTo>
                    <a:close/>
                    <a:moveTo>
                      <a:pt x="18784" y="318484"/>
                    </a:moveTo>
                    <a:lnTo>
                      <a:pt x="18784" y="326906"/>
                    </a:lnTo>
                    <a:cubicBezTo>
                      <a:pt x="18784" y="342600"/>
                      <a:pt x="32584" y="358550"/>
                      <a:pt x="56735" y="370544"/>
                    </a:cubicBezTo>
                    <a:cubicBezTo>
                      <a:pt x="83314" y="383814"/>
                      <a:pt x="118838" y="391087"/>
                      <a:pt x="156662" y="391087"/>
                    </a:cubicBezTo>
                    <a:cubicBezTo>
                      <a:pt x="178385" y="391087"/>
                      <a:pt x="199341" y="388791"/>
                      <a:pt x="218125" y="384197"/>
                    </a:cubicBezTo>
                    <a:cubicBezTo>
                      <a:pt x="207519" y="377179"/>
                      <a:pt x="197808" y="369013"/>
                      <a:pt x="189246" y="359698"/>
                    </a:cubicBezTo>
                    <a:cubicBezTo>
                      <a:pt x="178768" y="360847"/>
                      <a:pt x="167906" y="361485"/>
                      <a:pt x="156662" y="361485"/>
                    </a:cubicBezTo>
                    <a:cubicBezTo>
                      <a:pt x="96348" y="361485"/>
                      <a:pt x="44979" y="344259"/>
                      <a:pt x="18784" y="318484"/>
                    </a:cubicBezTo>
                    <a:close/>
                    <a:moveTo>
                      <a:pt x="589335" y="269104"/>
                    </a:moveTo>
                    <a:cubicBezTo>
                      <a:pt x="563012" y="294879"/>
                      <a:pt x="511643" y="312104"/>
                      <a:pt x="451329" y="312104"/>
                    </a:cubicBezTo>
                    <a:cubicBezTo>
                      <a:pt x="450690" y="312104"/>
                      <a:pt x="449924" y="312104"/>
                      <a:pt x="449285" y="312104"/>
                    </a:cubicBezTo>
                    <a:cubicBezTo>
                      <a:pt x="444940" y="322695"/>
                      <a:pt x="439446" y="332775"/>
                      <a:pt x="433056" y="342090"/>
                    </a:cubicBezTo>
                    <a:cubicBezTo>
                      <a:pt x="439062" y="342473"/>
                      <a:pt x="445196" y="342728"/>
                      <a:pt x="451329" y="342728"/>
                    </a:cubicBezTo>
                    <a:cubicBezTo>
                      <a:pt x="489281" y="342728"/>
                      <a:pt x="524805" y="335455"/>
                      <a:pt x="551383" y="322185"/>
                    </a:cubicBezTo>
                    <a:cubicBezTo>
                      <a:pt x="575407" y="310063"/>
                      <a:pt x="589335" y="294241"/>
                      <a:pt x="589335" y="278546"/>
                    </a:cubicBezTo>
                    <a:close/>
                    <a:moveTo>
                      <a:pt x="18784" y="269104"/>
                    </a:moveTo>
                    <a:lnTo>
                      <a:pt x="18784" y="278546"/>
                    </a:lnTo>
                    <a:cubicBezTo>
                      <a:pt x="18784" y="294241"/>
                      <a:pt x="32584" y="310063"/>
                      <a:pt x="56735" y="322185"/>
                    </a:cubicBezTo>
                    <a:cubicBezTo>
                      <a:pt x="83314" y="335455"/>
                      <a:pt x="118838" y="342728"/>
                      <a:pt x="156662" y="342728"/>
                    </a:cubicBezTo>
                    <a:cubicBezTo>
                      <a:pt x="162923" y="342728"/>
                      <a:pt x="169057" y="342473"/>
                      <a:pt x="175062" y="342090"/>
                    </a:cubicBezTo>
                    <a:cubicBezTo>
                      <a:pt x="168545" y="332775"/>
                      <a:pt x="163051" y="322695"/>
                      <a:pt x="158834" y="312104"/>
                    </a:cubicBezTo>
                    <a:cubicBezTo>
                      <a:pt x="158067" y="312104"/>
                      <a:pt x="157428" y="312104"/>
                      <a:pt x="156662" y="312104"/>
                    </a:cubicBezTo>
                    <a:cubicBezTo>
                      <a:pt x="96348" y="312104"/>
                      <a:pt x="44979" y="294879"/>
                      <a:pt x="18784" y="269104"/>
                    </a:cubicBezTo>
                    <a:close/>
                    <a:moveTo>
                      <a:pt x="313455" y="263472"/>
                    </a:moveTo>
                    <a:lnTo>
                      <a:pt x="313455" y="269086"/>
                    </a:lnTo>
                    <a:lnTo>
                      <a:pt x="313455" y="278526"/>
                    </a:lnTo>
                    <a:lnTo>
                      <a:pt x="313455" y="318458"/>
                    </a:lnTo>
                    <a:lnTo>
                      <a:pt x="313455" y="325347"/>
                    </a:lnTo>
                    <a:lnTo>
                      <a:pt x="313455" y="326878"/>
                    </a:lnTo>
                    <a:lnTo>
                      <a:pt x="313455" y="327133"/>
                    </a:lnTo>
                    <a:cubicBezTo>
                      <a:pt x="316137" y="326623"/>
                      <a:pt x="318692" y="325985"/>
                      <a:pt x="321118" y="325220"/>
                    </a:cubicBezTo>
                    <a:cubicBezTo>
                      <a:pt x="328144" y="322923"/>
                      <a:pt x="334147" y="319351"/>
                      <a:pt x="338618" y="314758"/>
                    </a:cubicBezTo>
                    <a:cubicBezTo>
                      <a:pt x="343982" y="309272"/>
                      <a:pt x="347176" y="302638"/>
                      <a:pt x="347176" y="295366"/>
                    </a:cubicBezTo>
                    <a:cubicBezTo>
                      <a:pt x="347176" y="293963"/>
                      <a:pt x="347048" y="292687"/>
                      <a:pt x="346792" y="291412"/>
                    </a:cubicBezTo>
                    <a:cubicBezTo>
                      <a:pt x="344621" y="277633"/>
                      <a:pt x="331081" y="266406"/>
                      <a:pt x="313455" y="263472"/>
                    </a:cubicBezTo>
                    <a:close/>
                    <a:moveTo>
                      <a:pt x="589335" y="220617"/>
                    </a:moveTo>
                    <a:cubicBezTo>
                      <a:pt x="564417" y="245243"/>
                      <a:pt x="516754" y="261958"/>
                      <a:pt x="460402" y="263490"/>
                    </a:cubicBezTo>
                    <a:cubicBezTo>
                      <a:pt x="459763" y="273697"/>
                      <a:pt x="458102" y="283778"/>
                      <a:pt x="455546" y="293347"/>
                    </a:cubicBezTo>
                    <a:cubicBezTo>
                      <a:pt x="491837" y="292837"/>
                      <a:pt x="525827" y="285564"/>
                      <a:pt x="551383" y="272804"/>
                    </a:cubicBezTo>
                    <a:cubicBezTo>
                      <a:pt x="575407" y="260810"/>
                      <a:pt x="589335" y="244860"/>
                      <a:pt x="589335" y="229166"/>
                    </a:cubicBezTo>
                    <a:close/>
                    <a:moveTo>
                      <a:pt x="18784" y="220617"/>
                    </a:moveTo>
                    <a:lnTo>
                      <a:pt x="18784" y="229166"/>
                    </a:lnTo>
                    <a:cubicBezTo>
                      <a:pt x="18784" y="244860"/>
                      <a:pt x="32584" y="260810"/>
                      <a:pt x="56735" y="272804"/>
                    </a:cubicBezTo>
                    <a:cubicBezTo>
                      <a:pt x="82292" y="285564"/>
                      <a:pt x="116154" y="292837"/>
                      <a:pt x="152573" y="293347"/>
                    </a:cubicBezTo>
                    <a:cubicBezTo>
                      <a:pt x="150017" y="283778"/>
                      <a:pt x="148356" y="273697"/>
                      <a:pt x="147717" y="263490"/>
                    </a:cubicBezTo>
                    <a:cubicBezTo>
                      <a:pt x="91237" y="261958"/>
                      <a:pt x="43702" y="245243"/>
                      <a:pt x="18784" y="220617"/>
                    </a:cubicBezTo>
                    <a:close/>
                    <a:moveTo>
                      <a:pt x="294678" y="179526"/>
                    </a:moveTo>
                    <a:cubicBezTo>
                      <a:pt x="275390" y="182843"/>
                      <a:pt x="260957" y="195856"/>
                      <a:pt x="260957" y="211421"/>
                    </a:cubicBezTo>
                    <a:cubicBezTo>
                      <a:pt x="260957" y="214738"/>
                      <a:pt x="261595" y="218055"/>
                      <a:pt x="262873" y="221116"/>
                    </a:cubicBezTo>
                    <a:cubicBezTo>
                      <a:pt x="265172" y="226730"/>
                      <a:pt x="269515" y="231705"/>
                      <a:pt x="275135" y="235533"/>
                    </a:cubicBezTo>
                    <a:cubicBezTo>
                      <a:pt x="279733" y="238722"/>
                      <a:pt x="285226" y="241146"/>
                      <a:pt x="291357" y="242549"/>
                    </a:cubicBezTo>
                    <a:cubicBezTo>
                      <a:pt x="292507" y="242805"/>
                      <a:pt x="293528" y="243060"/>
                      <a:pt x="294678" y="243187"/>
                    </a:cubicBezTo>
                    <a:lnTo>
                      <a:pt x="294678" y="229154"/>
                    </a:lnTo>
                    <a:lnTo>
                      <a:pt x="294678" y="220606"/>
                    </a:lnTo>
                    <a:lnTo>
                      <a:pt x="294678" y="180674"/>
                    </a:lnTo>
                    <a:close/>
                    <a:moveTo>
                      <a:pt x="589335" y="171364"/>
                    </a:moveTo>
                    <a:cubicBezTo>
                      <a:pt x="563651" y="196501"/>
                      <a:pt x="514199" y="213471"/>
                      <a:pt x="455802" y="214237"/>
                    </a:cubicBezTo>
                    <a:cubicBezTo>
                      <a:pt x="458357" y="224062"/>
                      <a:pt x="459891" y="234270"/>
                      <a:pt x="460530" y="244733"/>
                    </a:cubicBezTo>
                    <a:cubicBezTo>
                      <a:pt x="494903" y="243712"/>
                      <a:pt x="526977" y="236566"/>
                      <a:pt x="551383" y="224317"/>
                    </a:cubicBezTo>
                    <a:cubicBezTo>
                      <a:pt x="575407" y="212323"/>
                      <a:pt x="589335" y="196373"/>
                      <a:pt x="589335" y="180679"/>
                    </a:cubicBezTo>
                    <a:close/>
                    <a:moveTo>
                      <a:pt x="304002" y="139084"/>
                    </a:moveTo>
                    <a:cubicBezTo>
                      <a:pt x="309239" y="139084"/>
                      <a:pt x="313455" y="143294"/>
                      <a:pt x="313455" y="148397"/>
                    </a:cubicBezTo>
                    <a:lnTo>
                      <a:pt x="313455" y="160645"/>
                    </a:lnTo>
                    <a:cubicBezTo>
                      <a:pt x="338873" y="163834"/>
                      <a:pt x="359310" y="180037"/>
                      <a:pt x="364547" y="200832"/>
                    </a:cubicBezTo>
                    <a:cubicBezTo>
                      <a:pt x="365441" y="204276"/>
                      <a:pt x="365952" y="207721"/>
                      <a:pt x="365952" y="211421"/>
                    </a:cubicBezTo>
                    <a:cubicBezTo>
                      <a:pt x="365952" y="216524"/>
                      <a:pt x="361737" y="220734"/>
                      <a:pt x="356500" y="220734"/>
                    </a:cubicBezTo>
                    <a:cubicBezTo>
                      <a:pt x="351391" y="220734"/>
                      <a:pt x="347176" y="216524"/>
                      <a:pt x="347176" y="211421"/>
                    </a:cubicBezTo>
                    <a:cubicBezTo>
                      <a:pt x="347176" y="195856"/>
                      <a:pt x="332742" y="182843"/>
                      <a:pt x="313455" y="179526"/>
                    </a:cubicBezTo>
                    <a:lnTo>
                      <a:pt x="313455" y="180674"/>
                    </a:lnTo>
                    <a:lnTo>
                      <a:pt x="313455" y="220606"/>
                    </a:lnTo>
                    <a:lnTo>
                      <a:pt x="313455" y="229154"/>
                    </a:lnTo>
                    <a:lnTo>
                      <a:pt x="313455" y="244591"/>
                    </a:lnTo>
                    <a:cubicBezTo>
                      <a:pt x="314987" y="244718"/>
                      <a:pt x="316648" y="244973"/>
                      <a:pt x="318181" y="245356"/>
                    </a:cubicBezTo>
                    <a:cubicBezTo>
                      <a:pt x="338490" y="249311"/>
                      <a:pt x="354967" y="261558"/>
                      <a:pt x="362120" y="277633"/>
                    </a:cubicBezTo>
                    <a:cubicBezTo>
                      <a:pt x="364547" y="283119"/>
                      <a:pt x="365952" y="289115"/>
                      <a:pt x="365952" y="295366"/>
                    </a:cubicBezTo>
                    <a:cubicBezTo>
                      <a:pt x="365952" y="296515"/>
                      <a:pt x="365825" y="297790"/>
                      <a:pt x="365697" y="298939"/>
                    </a:cubicBezTo>
                    <a:cubicBezTo>
                      <a:pt x="364930" y="308252"/>
                      <a:pt x="361226" y="316799"/>
                      <a:pt x="355351" y="323944"/>
                    </a:cubicBezTo>
                    <a:cubicBezTo>
                      <a:pt x="351135" y="329174"/>
                      <a:pt x="345771" y="333640"/>
                      <a:pt x="339767" y="337212"/>
                    </a:cubicBezTo>
                    <a:cubicBezTo>
                      <a:pt x="333636" y="340784"/>
                      <a:pt x="326866" y="343463"/>
                      <a:pt x="319458" y="344994"/>
                    </a:cubicBezTo>
                    <a:cubicBezTo>
                      <a:pt x="317414" y="345377"/>
                      <a:pt x="315498" y="345760"/>
                      <a:pt x="313455" y="346015"/>
                    </a:cubicBezTo>
                    <a:lnTo>
                      <a:pt x="313455" y="358262"/>
                    </a:lnTo>
                    <a:cubicBezTo>
                      <a:pt x="313455" y="360558"/>
                      <a:pt x="312560" y="362727"/>
                      <a:pt x="311028" y="364386"/>
                    </a:cubicBezTo>
                    <a:cubicBezTo>
                      <a:pt x="309367" y="366427"/>
                      <a:pt x="306812" y="367575"/>
                      <a:pt x="304002" y="367575"/>
                    </a:cubicBezTo>
                    <a:cubicBezTo>
                      <a:pt x="301192" y="367575"/>
                      <a:pt x="298765" y="366427"/>
                      <a:pt x="296977" y="364386"/>
                    </a:cubicBezTo>
                    <a:cubicBezTo>
                      <a:pt x="295572" y="362727"/>
                      <a:pt x="294678" y="360558"/>
                      <a:pt x="294678" y="358262"/>
                    </a:cubicBezTo>
                    <a:lnTo>
                      <a:pt x="294678" y="346015"/>
                    </a:lnTo>
                    <a:cubicBezTo>
                      <a:pt x="292634" y="345760"/>
                      <a:pt x="290591" y="345377"/>
                      <a:pt x="288675" y="344994"/>
                    </a:cubicBezTo>
                    <a:cubicBezTo>
                      <a:pt x="281266" y="343463"/>
                      <a:pt x="274369" y="340784"/>
                      <a:pt x="268365" y="337212"/>
                    </a:cubicBezTo>
                    <a:cubicBezTo>
                      <a:pt x="262234" y="333640"/>
                      <a:pt x="256997" y="329174"/>
                      <a:pt x="252782" y="323944"/>
                    </a:cubicBezTo>
                    <a:cubicBezTo>
                      <a:pt x="246906" y="316799"/>
                      <a:pt x="243074" y="308252"/>
                      <a:pt x="242308" y="298939"/>
                    </a:cubicBezTo>
                    <a:cubicBezTo>
                      <a:pt x="242180" y="297790"/>
                      <a:pt x="242180" y="296515"/>
                      <a:pt x="242180" y="295239"/>
                    </a:cubicBezTo>
                    <a:cubicBezTo>
                      <a:pt x="242180" y="290136"/>
                      <a:pt x="246395" y="285926"/>
                      <a:pt x="251505" y="285926"/>
                    </a:cubicBezTo>
                    <a:cubicBezTo>
                      <a:pt x="255464" y="285926"/>
                      <a:pt x="258913" y="288350"/>
                      <a:pt x="260190" y="291922"/>
                    </a:cubicBezTo>
                    <a:cubicBezTo>
                      <a:pt x="260701" y="292943"/>
                      <a:pt x="260957" y="294091"/>
                      <a:pt x="260957" y="295239"/>
                    </a:cubicBezTo>
                    <a:cubicBezTo>
                      <a:pt x="260957" y="302638"/>
                      <a:pt x="264022" y="309272"/>
                      <a:pt x="269515" y="314758"/>
                    </a:cubicBezTo>
                    <a:cubicBezTo>
                      <a:pt x="273985" y="319351"/>
                      <a:pt x="279989" y="322923"/>
                      <a:pt x="286886" y="325220"/>
                    </a:cubicBezTo>
                    <a:cubicBezTo>
                      <a:pt x="289441" y="325985"/>
                      <a:pt x="291996" y="326623"/>
                      <a:pt x="294678" y="327133"/>
                    </a:cubicBezTo>
                    <a:lnTo>
                      <a:pt x="294678" y="326878"/>
                    </a:lnTo>
                    <a:lnTo>
                      <a:pt x="294678" y="325347"/>
                    </a:lnTo>
                    <a:lnTo>
                      <a:pt x="294678" y="318458"/>
                    </a:lnTo>
                    <a:lnTo>
                      <a:pt x="294678" y="278526"/>
                    </a:lnTo>
                    <a:lnTo>
                      <a:pt x="294678" y="269086"/>
                    </a:lnTo>
                    <a:lnTo>
                      <a:pt x="294678" y="262069"/>
                    </a:lnTo>
                    <a:cubicBezTo>
                      <a:pt x="289058" y="261431"/>
                      <a:pt x="283821" y="260028"/>
                      <a:pt x="278839" y="258241"/>
                    </a:cubicBezTo>
                    <a:cubicBezTo>
                      <a:pt x="270537" y="255180"/>
                      <a:pt x="263128" y="250459"/>
                      <a:pt x="257125" y="244846"/>
                    </a:cubicBezTo>
                    <a:cubicBezTo>
                      <a:pt x="252399" y="240253"/>
                      <a:pt x="248567" y="235022"/>
                      <a:pt x="246012" y="229154"/>
                    </a:cubicBezTo>
                    <a:cubicBezTo>
                      <a:pt x="243458" y="223668"/>
                      <a:pt x="242180" y="217672"/>
                      <a:pt x="242180" y="211421"/>
                    </a:cubicBezTo>
                    <a:cubicBezTo>
                      <a:pt x="242180" y="187691"/>
                      <a:pt x="261723" y="167662"/>
                      <a:pt x="288036" y="161793"/>
                    </a:cubicBezTo>
                    <a:cubicBezTo>
                      <a:pt x="290207" y="161283"/>
                      <a:pt x="292379" y="160900"/>
                      <a:pt x="294678" y="160645"/>
                    </a:cubicBezTo>
                    <a:lnTo>
                      <a:pt x="294678" y="148397"/>
                    </a:lnTo>
                    <a:cubicBezTo>
                      <a:pt x="294678" y="146484"/>
                      <a:pt x="295189" y="144825"/>
                      <a:pt x="296211" y="143294"/>
                    </a:cubicBezTo>
                    <a:cubicBezTo>
                      <a:pt x="296338" y="143167"/>
                      <a:pt x="296466" y="142912"/>
                      <a:pt x="296594" y="142784"/>
                    </a:cubicBezTo>
                    <a:cubicBezTo>
                      <a:pt x="298254" y="140488"/>
                      <a:pt x="300937" y="139084"/>
                      <a:pt x="304002" y="139084"/>
                    </a:cubicBezTo>
                    <a:close/>
                    <a:moveTo>
                      <a:pt x="589335" y="122876"/>
                    </a:moveTo>
                    <a:cubicBezTo>
                      <a:pt x="563012" y="148779"/>
                      <a:pt x="511643" y="165877"/>
                      <a:pt x="451329" y="165877"/>
                    </a:cubicBezTo>
                    <a:cubicBezTo>
                      <a:pt x="445324" y="165877"/>
                      <a:pt x="439318" y="165750"/>
                      <a:pt x="433568" y="165367"/>
                    </a:cubicBezTo>
                    <a:cubicBezTo>
                      <a:pt x="439957" y="174809"/>
                      <a:pt x="445324" y="184889"/>
                      <a:pt x="449668" y="195608"/>
                    </a:cubicBezTo>
                    <a:cubicBezTo>
                      <a:pt x="450179" y="195608"/>
                      <a:pt x="450818" y="195608"/>
                      <a:pt x="451329" y="195608"/>
                    </a:cubicBezTo>
                    <a:cubicBezTo>
                      <a:pt x="489281" y="195608"/>
                      <a:pt x="524805" y="188335"/>
                      <a:pt x="551383" y="175064"/>
                    </a:cubicBezTo>
                    <a:cubicBezTo>
                      <a:pt x="575407" y="162943"/>
                      <a:pt x="589335" y="147120"/>
                      <a:pt x="589335" y="131425"/>
                    </a:cubicBezTo>
                    <a:close/>
                    <a:moveTo>
                      <a:pt x="156662" y="116497"/>
                    </a:moveTo>
                    <a:cubicBezTo>
                      <a:pt x="118838" y="116497"/>
                      <a:pt x="83314" y="123897"/>
                      <a:pt x="56735" y="137040"/>
                    </a:cubicBezTo>
                    <a:cubicBezTo>
                      <a:pt x="32584" y="149162"/>
                      <a:pt x="18784" y="165112"/>
                      <a:pt x="18784" y="180679"/>
                    </a:cubicBezTo>
                    <a:cubicBezTo>
                      <a:pt x="18784" y="196373"/>
                      <a:pt x="32584" y="212323"/>
                      <a:pt x="56735" y="224317"/>
                    </a:cubicBezTo>
                    <a:cubicBezTo>
                      <a:pt x="81142" y="236566"/>
                      <a:pt x="113088" y="243712"/>
                      <a:pt x="147589" y="244733"/>
                    </a:cubicBezTo>
                    <a:cubicBezTo>
                      <a:pt x="150272" y="194076"/>
                      <a:pt x="177362" y="149800"/>
                      <a:pt x="217103" y="123259"/>
                    </a:cubicBezTo>
                    <a:cubicBezTo>
                      <a:pt x="198574" y="118793"/>
                      <a:pt x="178001" y="116497"/>
                      <a:pt x="156662" y="116497"/>
                    </a:cubicBezTo>
                    <a:close/>
                    <a:moveTo>
                      <a:pt x="303996" y="115603"/>
                    </a:moveTo>
                    <a:cubicBezTo>
                      <a:pt x="300929" y="115603"/>
                      <a:pt x="297734" y="115731"/>
                      <a:pt x="294668" y="115986"/>
                    </a:cubicBezTo>
                    <a:cubicBezTo>
                      <a:pt x="284828" y="116624"/>
                      <a:pt x="275372" y="118283"/>
                      <a:pt x="266172" y="120835"/>
                    </a:cubicBezTo>
                    <a:cubicBezTo>
                      <a:pt x="257611" y="123387"/>
                      <a:pt x="249432" y="126577"/>
                      <a:pt x="241637" y="130532"/>
                    </a:cubicBezTo>
                    <a:cubicBezTo>
                      <a:pt x="199213" y="152097"/>
                      <a:pt x="169440" y="194842"/>
                      <a:pt x="166373" y="244733"/>
                    </a:cubicBezTo>
                    <a:cubicBezTo>
                      <a:pt x="166118" y="247667"/>
                      <a:pt x="166118" y="250475"/>
                      <a:pt x="166118" y="253409"/>
                    </a:cubicBezTo>
                    <a:cubicBezTo>
                      <a:pt x="166118" y="256727"/>
                      <a:pt x="166245" y="260172"/>
                      <a:pt x="166501" y="263490"/>
                    </a:cubicBezTo>
                    <a:cubicBezTo>
                      <a:pt x="167140" y="273697"/>
                      <a:pt x="169057" y="283522"/>
                      <a:pt x="171868" y="292965"/>
                    </a:cubicBezTo>
                    <a:cubicBezTo>
                      <a:pt x="173784" y="299217"/>
                      <a:pt x="176085" y="305342"/>
                      <a:pt x="178896" y="311339"/>
                    </a:cubicBezTo>
                    <a:cubicBezTo>
                      <a:pt x="183624" y="321547"/>
                      <a:pt x="189630" y="331116"/>
                      <a:pt x="196785" y="339921"/>
                    </a:cubicBezTo>
                    <a:cubicBezTo>
                      <a:pt x="201513" y="345790"/>
                      <a:pt x="206752" y="351149"/>
                      <a:pt x="212375" y="356253"/>
                    </a:cubicBezTo>
                    <a:cubicBezTo>
                      <a:pt x="221448" y="364292"/>
                      <a:pt x="231670" y="371182"/>
                      <a:pt x="242660" y="376669"/>
                    </a:cubicBezTo>
                    <a:cubicBezTo>
                      <a:pt x="250455" y="380624"/>
                      <a:pt x="258761" y="383814"/>
                      <a:pt x="267322" y="386111"/>
                    </a:cubicBezTo>
                    <a:cubicBezTo>
                      <a:pt x="279078" y="389429"/>
                      <a:pt x="291345" y="391087"/>
                      <a:pt x="303996" y="391087"/>
                    </a:cubicBezTo>
                    <a:cubicBezTo>
                      <a:pt x="316774" y="391087"/>
                      <a:pt x="329041" y="389429"/>
                      <a:pt x="340669" y="386111"/>
                    </a:cubicBezTo>
                    <a:cubicBezTo>
                      <a:pt x="349359" y="383814"/>
                      <a:pt x="357537" y="380624"/>
                      <a:pt x="365459" y="376669"/>
                    </a:cubicBezTo>
                    <a:cubicBezTo>
                      <a:pt x="376449" y="371182"/>
                      <a:pt x="386543" y="364292"/>
                      <a:pt x="395744" y="356253"/>
                    </a:cubicBezTo>
                    <a:cubicBezTo>
                      <a:pt x="401366" y="351149"/>
                      <a:pt x="406605" y="345790"/>
                      <a:pt x="411333" y="339921"/>
                    </a:cubicBezTo>
                    <a:cubicBezTo>
                      <a:pt x="418361" y="331116"/>
                      <a:pt x="424367" y="321547"/>
                      <a:pt x="429223" y="311339"/>
                    </a:cubicBezTo>
                    <a:cubicBezTo>
                      <a:pt x="431906" y="305342"/>
                      <a:pt x="434334" y="299217"/>
                      <a:pt x="436123" y="292965"/>
                    </a:cubicBezTo>
                    <a:cubicBezTo>
                      <a:pt x="439062" y="283522"/>
                      <a:pt x="440851" y="273697"/>
                      <a:pt x="441618" y="263490"/>
                    </a:cubicBezTo>
                    <a:cubicBezTo>
                      <a:pt x="441873" y="260172"/>
                      <a:pt x="442001" y="256727"/>
                      <a:pt x="442001" y="253409"/>
                    </a:cubicBezTo>
                    <a:cubicBezTo>
                      <a:pt x="442001" y="250475"/>
                      <a:pt x="441873" y="247667"/>
                      <a:pt x="441746" y="244733"/>
                    </a:cubicBezTo>
                    <a:cubicBezTo>
                      <a:pt x="441107" y="234142"/>
                      <a:pt x="439190" y="223807"/>
                      <a:pt x="436251" y="213982"/>
                    </a:cubicBezTo>
                    <a:cubicBezTo>
                      <a:pt x="434207" y="207347"/>
                      <a:pt x="431779" y="200839"/>
                      <a:pt x="428840" y="194714"/>
                    </a:cubicBezTo>
                    <a:cubicBezTo>
                      <a:pt x="423345" y="183103"/>
                      <a:pt x="416189" y="172385"/>
                      <a:pt x="407883" y="162815"/>
                    </a:cubicBezTo>
                    <a:cubicBezTo>
                      <a:pt x="399066" y="152735"/>
                      <a:pt x="388971" y="144058"/>
                      <a:pt x="377726" y="136912"/>
                    </a:cubicBezTo>
                    <a:cubicBezTo>
                      <a:pt x="366354" y="129767"/>
                      <a:pt x="353831" y="124152"/>
                      <a:pt x="340542" y="120580"/>
                    </a:cubicBezTo>
                    <a:cubicBezTo>
                      <a:pt x="331852" y="118155"/>
                      <a:pt x="322780" y="116624"/>
                      <a:pt x="313452" y="115986"/>
                    </a:cubicBezTo>
                    <a:cubicBezTo>
                      <a:pt x="311279" y="115859"/>
                      <a:pt x="309107" y="115731"/>
                      <a:pt x="306935" y="115603"/>
                    </a:cubicBezTo>
                    <a:cubicBezTo>
                      <a:pt x="305912" y="115603"/>
                      <a:pt x="305018" y="115603"/>
                      <a:pt x="303996" y="115603"/>
                    </a:cubicBezTo>
                    <a:close/>
                    <a:moveTo>
                      <a:pt x="451329" y="18757"/>
                    </a:moveTo>
                    <a:cubicBezTo>
                      <a:pt x="413378" y="18757"/>
                      <a:pt x="377982" y="26030"/>
                      <a:pt x="351403" y="39300"/>
                    </a:cubicBezTo>
                    <a:cubicBezTo>
                      <a:pt x="327252" y="51422"/>
                      <a:pt x="313452" y="67244"/>
                      <a:pt x="313452" y="82938"/>
                    </a:cubicBezTo>
                    <a:cubicBezTo>
                      <a:pt x="313452" y="87787"/>
                      <a:pt x="314729" y="92636"/>
                      <a:pt x="317285" y="97484"/>
                    </a:cubicBezTo>
                    <a:cubicBezTo>
                      <a:pt x="356387" y="100802"/>
                      <a:pt x="391399" y="118410"/>
                      <a:pt x="417084" y="145079"/>
                    </a:cubicBezTo>
                    <a:cubicBezTo>
                      <a:pt x="428201" y="146482"/>
                      <a:pt x="439573" y="147120"/>
                      <a:pt x="451329" y="147120"/>
                    </a:cubicBezTo>
                    <a:cubicBezTo>
                      <a:pt x="489281" y="147120"/>
                      <a:pt x="524805" y="139847"/>
                      <a:pt x="551383" y="126577"/>
                    </a:cubicBezTo>
                    <a:cubicBezTo>
                      <a:pt x="575407" y="114583"/>
                      <a:pt x="589335" y="98633"/>
                      <a:pt x="589335" y="82938"/>
                    </a:cubicBezTo>
                    <a:cubicBezTo>
                      <a:pt x="589335" y="67244"/>
                      <a:pt x="575407" y="51422"/>
                      <a:pt x="551383" y="39300"/>
                    </a:cubicBezTo>
                    <a:cubicBezTo>
                      <a:pt x="524805" y="26030"/>
                      <a:pt x="489281" y="18757"/>
                      <a:pt x="451329" y="18757"/>
                    </a:cubicBezTo>
                    <a:close/>
                    <a:moveTo>
                      <a:pt x="451329" y="0"/>
                    </a:moveTo>
                    <a:cubicBezTo>
                      <a:pt x="539244" y="0"/>
                      <a:pt x="607991" y="36493"/>
                      <a:pt x="607991" y="82938"/>
                    </a:cubicBezTo>
                    <a:lnTo>
                      <a:pt x="607991" y="131425"/>
                    </a:lnTo>
                    <a:lnTo>
                      <a:pt x="607991" y="180679"/>
                    </a:lnTo>
                    <a:lnTo>
                      <a:pt x="607991" y="229166"/>
                    </a:lnTo>
                    <a:lnTo>
                      <a:pt x="607991" y="278546"/>
                    </a:lnTo>
                    <a:lnTo>
                      <a:pt x="607991" y="326906"/>
                    </a:lnTo>
                    <a:cubicBezTo>
                      <a:pt x="607991" y="373479"/>
                      <a:pt x="539244" y="409844"/>
                      <a:pt x="451329" y="409844"/>
                    </a:cubicBezTo>
                    <a:cubicBezTo>
                      <a:pt x="419767" y="409844"/>
                      <a:pt x="390633" y="405123"/>
                      <a:pt x="366354" y="396957"/>
                    </a:cubicBezTo>
                    <a:cubicBezTo>
                      <a:pt x="347186" y="405251"/>
                      <a:pt x="326102" y="409844"/>
                      <a:pt x="303996" y="409844"/>
                    </a:cubicBezTo>
                    <a:cubicBezTo>
                      <a:pt x="281889" y="409844"/>
                      <a:pt x="260805" y="405251"/>
                      <a:pt x="241765" y="396957"/>
                    </a:cubicBezTo>
                    <a:cubicBezTo>
                      <a:pt x="217358" y="405123"/>
                      <a:pt x="188352" y="409844"/>
                      <a:pt x="156662" y="409844"/>
                    </a:cubicBezTo>
                    <a:cubicBezTo>
                      <a:pt x="68875" y="409844"/>
                      <a:pt x="0" y="373479"/>
                      <a:pt x="0" y="326906"/>
                    </a:cubicBezTo>
                    <a:lnTo>
                      <a:pt x="0" y="278546"/>
                    </a:lnTo>
                    <a:lnTo>
                      <a:pt x="0" y="229166"/>
                    </a:lnTo>
                    <a:lnTo>
                      <a:pt x="0" y="180679"/>
                    </a:lnTo>
                    <a:cubicBezTo>
                      <a:pt x="0" y="134233"/>
                      <a:pt x="68875" y="97867"/>
                      <a:pt x="156662" y="97867"/>
                    </a:cubicBezTo>
                    <a:cubicBezTo>
                      <a:pt x="187713" y="97867"/>
                      <a:pt x="216464" y="102333"/>
                      <a:pt x="240615" y="110372"/>
                    </a:cubicBezTo>
                    <a:cubicBezTo>
                      <a:pt x="257227" y="102844"/>
                      <a:pt x="275500" y="98378"/>
                      <a:pt x="294668" y="97229"/>
                    </a:cubicBezTo>
                    <a:lnTo>
                      <a:pt x="294668" y="82938"/>
                    </a:lnTo>
                    <a:cubicBezTo>
                      <a:pt x="294668" y="36493"/>
                      <a:pt x="363543" y="0"/>
                      <a:pt x="45132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  <p:sp>
        <p:nvSpPr>
          <p:cNvPr id="60" name="矩形: 圆角 59"/>
          <p:cNvSpPr/>
          <p:nvPr/>
        </p:nvSpPr>
        <p:spPr>
          <a:xfrm rot="2683838">
            <a:off x="10427874" y="-712026"/>
            <a:ext cx="1368547" cy="1368547"/>
          </a:xfrm>
          <a:prstGeom prst="roundRect">
            <a:avLst>
              <a:gd name="adj" fmla="val 8843"/>
            </a:avLst>
          </a:prstGeom>
          <a:gradFill>
            <a:gsLst>
              <a:gs pos="0">
                <a:schemeClr val="accent1">
                  <a:alpha val="38000"/>
                </a:schemeClr>
              </a:gs>
              <a:gs pos="100000">
                <a:schemeClr val="accent2">
                  <a:alpha val="5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9"/>
          <p:cNvSpPr txBox="1"/>
          <p:nvPr/>
        </p:nvSpPr>
        <p:spPr>
          <a:xfrm>
            <a:off x="32019" y="20433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/>
          <p:cNvSpPr/>
          <p:nvPr/>
        </p:nvSpPr>
        <p:spPr>
          <a:xfrm rot="2683838">
            <a:off x="143426" y="1579324"/>
            <a:ext cx="1282146" cy="1282146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70341" y="-1264801"/>
            <a:ext cx="1783588" cy="1783588"/>
            <a:chOff x="637396" y="-1337487"/>
            <a:chExt cx="1783588" cy="1783588"/>
          </a:xfrm>
        </p:grpSpPr>
        <p:sp>
          <p:nvSpPr>
            <p:cNvPr id="12" name="矩形: 圆角 11"/>
            <p:cNvSpPr/>
            <p:nvPr/>
          </p:nvSpPr>
          <p:spPr>
            <a:xfrm rot="2705342">
              <a:off x="637396" y="-1337487"/>
              <a:ext cx="1783588" cy="1783588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: 圆角 14"/>
            <p:cNvSpPr/>
            <p:nvPr/>
          </p:nvSpPr>
          <p:spPr>
            <a:xfrm rot="2705342">
              <a:off x="837897" y="-1136986"/>
              <a:ext cx="1382586" cy="1382586"/>
            </a:xfrm>
            <a:prstGeom prst="roundRect">
              <a:avLst>
                <a:gd name="adj" fmla="val 8843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3140205" y="3801603"/>
            <a:ext cx="5851798" cy="299715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62429" y="2777879"/>
            <a:ext cx="7867143" cy="1323439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三元基元</a:t>
            </a:r>
            <a:endParaRPr lang="en-US" altLang="zh-CN" sz="8000" b="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73839" y="4268289"/>
            <a:ext cx="5474796" cy="6177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+mn-ea"/>
                <a:cs typeface="+mn-ea"/>
                <a:sym typeface="+mn-lt"/>
              </a:rPr>
              <a:t>从三值基底到认知空间的数学原理</a:t>
            </a:r>
          </a:p>
        </p:txBody>
      </p:sp>
      <p:sp>
        <p:nvSpPr>
          <p:cNvPr id="5" name="文本框 4" descr="e7d195523061f1c0c30ee18c1b05f65d12b38e2533cb2ccdAE0CC34CB5CBEBFAEC353FED4DECE97C3E379FD1D933F5E4DC18EF8EA6B7A1130D5F6DE9DD2BE4B0A8C9126ACE5083D1F5A9E323B29CCFC723947F2A7770FFCFC0136AC2E9358C416F4A10C6952D33DA63038E460805E61AD394230B9BB5ED30CDD32E0864C96BD7869770F58DC06A0E"/>
          <p:cNvSpPr txBox="1"/>
          <p:nvPr/>
        </p:nvSpPr>
        <p:spPr>
          <a:xfrm>
            <a:off x="4863428" y="1851669"/>
            <a:ext cx="24956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n w="571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3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Part.01</a:t>
            </a:r>
          </a:p>
        </p:txBody>
      </p:sp>
      <p:sp>
        <p:nvSpPr>
          <p:cNvPr id="6" name="矩形: 圆角 5"/>
          <p:cNvSpPr/>
          <p:nvPr/>
        </p:nvSpPr>
        <p:spPr>
          <a:xfrm rot="2705342">
            <a:off x="10912202" y="5555172"/>
            <a:ext cx="792448" cy="792448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 rot="2683838">
            <a:off x="10367146" y="6607619"/>
            <a:ext cx="715805" cy="715805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 rot="2683838">
            <a:off x="11550926" y="6216928"/>
            <a:ext cx="1282146" cy="1282146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矩形: 圆角 8"/>
          <p:cNvSpPr/>
          <p:nvPr/>
        </p:nvSpPr>
        <p:spPr>
          <a:xfrm rot="2705342">
            <a:off x="11957529" y="5209349"/>
            <a:ext cx="529902" cy="529902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05342">
            <a:off x="-554763" y="-592859"/>
            <a:ext cx="2678526" cy="2678526"/>
          </a:xfrm>
          <a:prstGeom prst="roundRect">
            <a:avLst>
              <a:gd name="adj" fmla="val 8843"/>
            </a:avLst>
          </a:pr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 rot="2705342">
            <a:off x="-1368481" y="761755"/>
            <a:ext cx="1783588" cy="1783588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矩形: 圆角 17"/>
          <p:cNvSpPr/>
          <p:nvPr/>
        </p:nvSpPr>
        <p:spPr>
          <a:xfrm rot="2705342">
            <a:off x="10996698" y="5639668"/>
            <a:ext cx="623457" cy="623457"/>
          </a:xfrm>
          <a:prstGeom prst="roundRect">
            <a:avLst>
              <a:gd name="adj" fmla="val 884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4">
    <p:spTree>
      <p:nvGrpSpPr>
        <p:cNvPr id="1" name=""/>
        <p:cNvGrpSpPr/>
        <p:nvPr/>
      </p:nvGrpSpPr>
      <p:grpSpPr/>
      <p:sp>
        <p:nvSpPr>
          <p:cNvPr id="2" name="AUTO::page-4::p4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三值基底：−1 / 0 / +1</a:t>
            </a:r>
          </a:p>
        </p:txBody>
      </p:sp>
      <p:sp>
        <p:nvSpPr>
          <p:cNvPr id="3" name="AUTO::page-4::p4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Triadic Foundation of Cognitive Space</a:t>
            </a:r>
          </a:p>
        </p:txBody>
      </p:sp>
      <p:sp>
        <p:nvSpPr>
          <p:cNvPr id="4" name="AUTO::page-4::p4-content"/>
          <p:cNvSpPr txBox="1"/>
          <p:nvPr/>
        </p:nvSpPr>
        <p:spPr>
          <a:xfrm>
            <a:off x="457200" y="1828800"/>
            <a:ext cx="50292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认知生命体的计算基底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>传统AI采用二值逻辑（0/1），将认知与执行分离。认知状态不可计算——当LLM说「我正在积聚状态」时，它只是在生成文本，而非状态空间计算出了一个「积聚」向量。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222222"/>
                </a:solidFill>
                <a:latin typeface="思源黑体"/>
              </a:rPr>
              <a:t>三值基底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B03A2E"/>
                </a:solidFill>
                <a:latin typeface="思源黑体"/>
              </a:rPr>
              <a:t>• −1（收敛）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：反向、收缩、内敛、保存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808080"/>
                </a:solidFill>
                <a:latin typeface="思源黑体"/>
              </a:rPr>
              <a:t>• 0（悬置）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：转化、平衡、过渡、观察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005DA1"/>
                </a:solidFill>
                <a:latin typeface="思源黑体"/>
              </a:rPr>
              <a:t>• +1（扩张）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：正向、扩张、外放、争取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222222"/>
                </a:solidFill>
                <a:latin typeface="思源黑体"/>
              </a:rPr>
              <a:t>三种操作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同号饱和：+1 + +1 = +1（过饱和截断）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异号归零：+1 + (−1) = 0（正负相消）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零元恒等：0 + 任何 = 任何（不改变）</a:t>
            </a:r>
          </a:p>
        </p:txBody>
      </p:sp>
      <p:sp>
        <p:nvSpPr>
          <p:cNvPr id="5" name="AUTO::page-4::p4-visual"/>
          <p:cNvSpPr/>
          <p:nvPr/>
        </p:nvSpPr>
        <p:spPr>
          <a:xfrm>
            <a:off x="5943600" y="1828800"/>
            <a:ext cx="5029200" cy="5029200"/>
          </a:xfrm>
          <a:prstGeom prst="rect">
            <a:avLst/>
          </a:prstGeom>
          <a:solidFill>
            <a:srgbClr val="CCDFEC"/>
          </a:solidFill>
          <a:ln w="25400">
            <a:solidFill>
              <a:srgbClr val="005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4::p4-v-title"/>
          <p:cNvSpPr txBox="1"/>
          <p:nvPr/>
        </p:nvSpPr>
        <p:spPr>
          <a:xfrm>
            <a:off x="640080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三值运算</a:t>
            </a:r>
          </a:p>
        </p:txBody>
      </p:sp>
      <p:graphicFrame>
        <p:nvGraphicFramePr>
          <p:cNvPr id="7" name="AUTO::page-4::p4-v-table"/>
          <p:cNvGraphicFramePr>
            <a:graphicFrameLocks noGrp="1"/>
          </p:cNvGraphicFramePr>
          <p:nvPr/>
        </p:nvGraphicFramePr>
        <p:xfrm>
          <a:off x="6400800" y="274320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963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思源黑体"/>
                        </a:rPr>
                        <a:t>a</a:t>
                      </a:r>
                    </a:p>
                  </a:txBody>
                  <a:tcPr>
                    <a:solidFill>
                      <a:srgbClr val="005D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思源黑体"/>
                        </a:rPr>
                        <a:t>b</a:t>
                      </a:r>
                    </a:p>
                  </a:txBody>
                  <a:tcPr>
                    <a:solidFill>
                      <a:srgbClr val="005D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思源黑体"/>
                        </a:rPr>
                        <a:t>a + b</a:t>
                      </a:r>
                    </a:p>
                  </a:txBody>
                  <a:tcPr>
                    <a:solidFill>
                      <a:srgbClr val="005DA1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思源黑体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AUTO::page-4::p4-note"/>
          <p:cNvSpPr txBox="1"/>
          <p:nvPr/>
        </p:nvSpPr>
        <p:spPr>
          <a:xfrm>
            <a:off x="6400800" y="594360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思源黑体"/>
              </a:rPr>
              <a:t>注：三值饱和运算保证了状态空间的有界性——任意两个认知态的叠加不会溢出，始终保持在同一语义空间内。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5">
    <p:spTree>
      <p:nvGrpSpPr>
        <p:cNvPr id="1" name=""/>
        <p:cNvGrpSpPr/>
        <p:nvPr/>
      </p:nvGrpSpPr>
      <p:grpSpPr/>
      <p:sp>
        <p:nvSpPr>
          <p:cNvPr id="2" name="AUTO::page-5::p5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九维认知向量</a:t>
            </a:r>
          </a:p>
        </p:txBody>
      </p:sp>
      <p:sp>
        <p:nvSpPr>
          <p:cNvPr id="3" name="AUTO::page-5::p5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Nine-Dimensional Cognitive Vector</a:t>
            </a:r>
          </a:p>
        </p:txBody>
      </p:sp>
      <p:sp>
        <p:nvSpPr>
          <p:cNvPr id="4" name="AUTO::page-5::p5-content"/>
          <p:cNvSpPr txBox="1"/>
          <p:nvPr/>
        </p:nvSpPr>
        <p:spPr>
          <a:xfrm>
            <a:off x="457200" y="18288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九维构成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——每个维度对应一种认知功能，取值为−1/0/+1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觉知（觉察深度）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——对外部信号的敏感度：−1=迟钝，0=平常，+1=敏锐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纯粹存在（本体感知）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——对自身在场性的确认：−1=迷失，0=稳定，+1=强烈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体感耦合（环境连接）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——与环境的融入程度：−1=疏离，0=平和，+1=紧密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自我识别（身份边界）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——「我是谁」的清晰度：−1=模糊，0=适中，+1=清晰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主动放下（非执着力）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——不执着的能力：−1=执念，0=平常，+1=超脱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方向（收敛/扩张/悬置）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——认知指向的趋势：−1=收敛，0=悬置，+1=扩张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能量（潜/蕴/显）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——内在动力的强度：−1=潜藏，0=蕴育，+1=彰显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行动倾向（守/候/进）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——行为的准备度：−1=守势，0=候机，+1=进取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时间节律（四象相位）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——认知的周期位置：−1=秋冬，0=交替，+1=春夏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6">
    <p:spTree>
      <p:nvGrpSpPr>
        <p:cNvPr id="1" name=""/>
        <p:cNvGrpSpPr/>
        <p:nvPr/>
      </p:nvGrpSpPr>
      <p:grpSpPr/>
      <p:sp>
        <p:nvSpPr>
          <p:cNvPr id="2" name="AUTO::page-6::p6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19683 认知状态空间</a:t>
            </a:r>
          </a:p>
        </p:txBody>
      </p:sp>
      <p:sp>
        <p:nvSpPr>
          <p:cNvPr id="3" name="AUTO::page-6::p6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3⁹ = 19,683 Discrete Cognitive States</a:t>
            </a:r>
          </a:p>
        </p:txBody>
      </p:sp>
      <p:sp>
        <p:nvSpPr>
          <p:cNvPr id="4" name="AUTO::page-6::p6-content"/>
          <p:cNvSpPr txBox="1"/>
          <p:nvPr/>
        </p:nvSpPr>
        <p:spPr>
          <a:xfrm>
            <a:off x="457200" y="1828800"/>
            <a:ext cx="54864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空间规模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九维三值向量 = 3⁹ = 19,683 个离散认知态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每个状态是一个可计算、可演化、可验证的数学对象。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认知不再是 LLM 的文本生成，而是状态空间的向量运算。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实际可达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通过月日时映射，实际可达状态：216 个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覆盖率：216 / 19,683 = 1.10%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这意味着：绝大多数认知态是「理论存在」，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但通过输入扩展（更多时间维度、更多基底组合），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可达空间可以持续扩展。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状态编号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三进制编码：−1→0, 0→1, +1→2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编号 = Σ(vᵢ × 3ⁱ)，i = 0..8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全+1态（太阳）= 编号 19682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全−1态（太阴）= 编号 0</a:t>
            </a:r>
          </a:p>
        </p:txBody>
      </p:sp>
      <p:sp>
        <p:nvSpPr>
          <p:cNvPr id="5" name="AUTO::page-6::p6-visual"/>
          <p:cNvSpPr/>
          <p:nvPr/>
        </p:nvSpPr>
        <p:spPr>
          <a:xfrm>
            <a:off x="6400800" y="1828800"/>
            <a:ext cx="5029200" cy="5029200"/>
          </a:xfrm>
          <a:prstGeom prst="rect">
            <a:avLst/>
          </a:prstGeom>
          <a:solidFill>
            <a:srgbClr val="CCDFEC"/>
          </a:solidFill>
          <a:ln w="25400">
            <a:solidFill>
              <a:srgbClr val="005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6::p6-v-title"/>
          <p:cNvSpPr txBox="1"/>
          <p:nvPr/>
        </p:nvSpPr>
        <p:spPr>
          <a:xfrm>
            <a:off x="685800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可达状态分布</a:t>
            </a:r>
          </a:p>
        </p:txBody>
      </p:sp>
      <p:graphicFrame>
        <p:nvGraphicFramePr>
          <p:cNvPr id="7" name="AUTO::page-6::p6-v-chart"/>
          <p:cNvGraphicFramePr>
            <a:graphicFrameLocks noGrp="1"/>
          </p:cNvGraphicFramePr>
          <p:nvPr/>
        </p:nvGraphicFramePr>
        <p:xfrm>
          <a:off x="6858000" y="27432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AUTO::page-6::p6-v-note"/>
          <p:cNvSpPr txBox="1"/>
          <p:nvPr/>
        </p:nvSpPr>
        <p:spPr>
          <a:xfrm>
            <a:off x="6858000" y="59436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08080"/>
                </a:solidFill>
                <a:latin typeface="思源黑体"/>
              </a:rPr>
              <a:t>注：悬置态（纯0态）在六宫投影下不可达，但通过扩展基底可以实现。杂化态占比最高（45.4%），说明人类认知最常处于「不清晰」的交织状态。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7">
    <p:spTree>
      <p:nvGrpSpPr>
        <p:cNvPr id="1" name=""/>
        <p:cNvGrpSpPr/>
        <p:nvPr/>
      </p:nvGrpSpPr>
      <p:grpSpPr/>
      <p:sp>
        <p:nvSpPr>
          <p:cNvPr id="2" name="AUTO::page-7::p7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六宫投影：九维 → 六宫</a:t>
            </a:r>
          </a:p>
        </p:txBody>
      </p:sp>
      <p:sp>
        <p:nvSpPr>
          <p:cNvPr id="3" name="AUTO::page-7::p7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Six-Palace Projection from 9-Dimensional Space</a:t>
            </a:r>
          </a:p>
        </p:txBody>
      </p:sp>
      <p:sp>
        <p:nvSpPr>
          <p:cNvPr id="4" name="AUTO::page-7::p7-content"/>
          <p:cNvSpPr txBox="1"/>
          <p:nvPr/>
        </p:nvSpPr>
        <p:spPr>
          <a:xfrm>
            <a:off x="457200" y="18288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投影机制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月宫、日宫、时宫各贡献 3 维认知向量分量：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005DA1"/>
                </a:solidFill>
                <a:latin typeface="思源黑体"/>
              </a:rPr>
              <a:t>月宫（觉知/纯粹存在/体感耦合）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——受月份周期影响，决定认知的季节基调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005DA1"/>
                </a:solidFill>
                <a:latin typeface="思源黑体"/>
              </a:rPr>
              <a:t>日宫（自我识别/主动放下/方向）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——受日期周期影响，决定认知的日间波动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005DA1"/>
                </a:solidFill>
                <a:latin typeface="思源黑体"/>
              </a:rPr>
              <a:t>时宫（能量/行动倾向/时间节律）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——受时辰周期影响，决定认知的瞬时状态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六神基底映射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每个六宫有其固定的三值基底向量（3维），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通过三值饱和运算叠加，形成完整九维向量。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示例：大安（青龙）= [+1, +1, +1]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留连（玄武）= [−1, −1, −1]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速喜（朱雀）= [+1, +1, −1]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赤口（白虎）= [−1, +1, −1]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小吉（六合）= [0, 0, +1]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空亡（勾陈）= [0, −1, 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email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/>
          <p:cNvSpPr/>
          <p:nvPr/>
        </p:nvSpPr>
        <p:spPr>
          <a:xfrm rot="2683838">
            <a:off x="143426" y="1579324"/>
            <a:ext cx="1282146" cy="1282146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70341" y="-1264801"/>
            <a:ext cx="1783588" cy="1783588"/>
            <a:chOff x="637396" y="-1337487"/>
            <a:chExt cx="1783588" cy="1783588"/>
          </a:xfrm>
        </p:grpSpPr>
        <p:sp>
          <p:nvSpPr>
            <p:cNvPr id="12" name="矩形: 圆角 11"/>
            <p:cNvSpPr/>
            <p:nvPr/>
          </p:nvSpPr>
          <p:spPr>
            <a:xfrm rot="2705342">
              <a:off x="637396" y="-1337487"/>
              <a:ext cx="1783588" cy="1783588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: 圆角 14"/>
            <p:cNvSpPr/>
            <p:nvPr/>
          </p:nvSpPr>
          <p:spPr>
            <a:xfrm rot="2705342">
              <a:off x="837897" y="-1136986"/>
              <a:ext cx="1382586" cy="1382586"/>
            </a:xfrm>
            <a:prstGeom prst="roundRect">
              <a:avLst>
                <a:gd name="adj" fmla="val 8843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3140205" y="3801603"/>
            <a:ext cx="5851798" cy="299715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62429" y="2777879"/>
            <a:ext cx="7867143" cy="1323439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认知架构</a:t>
            </a:r>
            <a:endParaRPr lang="en-US" altLang="zh-CN" sz="8000" b="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73839" y="4268289"/>
            <a:ext cx="5474796" cy="6177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+mn-ea"/>
                <a:cs typeface="+mn-ea"/>
                <a:sym typeface="+mn-lt"/>
              </a:rPr>
              <a:t>九维向量 · 四象分类 · 六宫投影 · 19683状态空间</a:t>
            </a:r>
          </a:p>
        </p:txBody>
      </p:sp>
      <p:sp>
        <p:nvSpPr>
          <p:cNvPr id="5" name="文本框 4" descr="e7d195523061f1c0c30ee18c1b05f65d12b38e2533cb2ccdAE0CC34CB5CBEBFAEC353FED4DECE97C3E379FD1D933F5E4DC18EF8EA6B7A1130D5F6DE9DD2BE4B0A8C9126ACE5083D1F5A9E323B29CCFC723947F2A7770FFCFC0136AC2E9358C416F4A10C6952D33DA63038E460805E61AD394230B9BB5ED30CDD32E0864C96BD7869770F58DC06A0E"/>
          <p:cNvSpPr txBox="1"/>
          <p:nvPr/>
        </p:nvSpPr>
        <p:spPr>
          <a:xfrm>
            <a:off x="4863428" y="1851669"/>
            <a:ext cx="24956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n w="571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3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Part.02</a:t>
            </a:r>
          </a:p>
        </p:txBody>
      </p:sp>
      <p:sp>
        <p:nvSpPr>
          <p:cNvPr id="6" name="矩形: 圆角 5"/>
          <p:cNvSpPr/>
          <p:nvPr/>
        </p:nvSpPr>
        <p:spPr>
          <a:xfrm rot="2705342">
            <a:off x="10912202" y="5555172"/>
            <a:ext cx="792448" cy="792448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 rot="2683838">
            <a:off x="10367146" y="6607619"/>
            <a:ext cx="715805" cy="715805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 rot="2683838">
            <a:off x="11550926" y="6216928"/>
            <a:ext cx="1282146" cy="1282146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矩形: 圆角 8"/>
          <p:cNvSpPr/>
          <p:nvPr/>
        </p:nvSpPr>
        <p:spPr>
          <a:xfrm rot="2705342">
            <a:off x="11957529" y="5209349"/>
            <a:ext cx="529902" cy="529902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05342">
            <a:off x="-554763" y="-592859"/>
            <a:ext cx="2678526" cy="2678526"/>
          </a:xfrm>
          <a:prstGeom prst="roundRect">
            <a:avLst>
              <a:gd name="adj" fmla="val 8843"/>
            </a:avLst>
          </a:pr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 rot="2705342">
            <a:off x="-1368481" y="761755"/>
            <a:ext cx="1783588" cy="1783588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矩形: 圆角 17"/>
          <p:cNvSpPr/>
          <p:nvPr/>
        </p:nvSpPr>
        <p:spPr>
          <a:xfrm rot="2705342">
            <a:off x="10996698" y="5639668"/>
            <a:ext cx="623457" cy="623457"/>
          </a:xfrm>
          <a:prstGeom prst="roundRect">
            <a:avLst>
              <a:gd name="adj" fmla="val 884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9">
    <p:spTree>
      <p:nvGrpSpPr>
        <p:cNvPr id="1" name=""/>
        <p:cNvGrpSpPr/>
        <p:nvPr/>
      </p:nvGrpSpPr>
      <p:grpSpPr/>
      <p:sp>
        <p:nvSpPr>
          <p:cNvPr id="2" name="AUTO::page-9::p9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四象分类与季节流动</a:t>
            </a:r>
          </a:p>
        </p:txBody>
      </p:sp>
      <p:sp>
        <p:nvSpPr>
          <p:cNvPr id="3" name="AUTO::page-9::p9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Four-Phase Classification and Seasonal Flow</a:t>
            </a:r>
          </a:p>
        </p:txBody>
      </p:sp>
      <p:sp>
        <p:nvSpPr>
          <p:cNvPr id="4" name="AUTO::page-9::p9-content"/>
          <p:cNvSpPr txBox="1"/>
          <p:nvPr/>
        </p:nvSpPr>
        <p:spPr>
          <a:xfrm>
            <a:off x="457200" y="18288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分类规则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基于九维向量中 +1/−1/0 维度的数量分布：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B03A2E"/>
                </a:solidFill>
                <a:latin typeface="思源黑体"/>
              </a:rPr>
              <a:t>太阳（盛夏）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：+1 &gt; 5 且 −1 &lt; 2 —— 全面扩张的高能量态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333333"/>
                </a:solidFill>
                <a:latin typeface="思源黑体"/>
              </a:rPr>
              <a:t>太阴（寒冬）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：−1 &gt; 5 且 +1 &lt; 2 —— 全面收敛的低能量态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B98A4A"/>
                </a:solidFill>
                <a:latin typeface="思源黑体"/>
              </a:rPr>
              <a:t>少阳（初春）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：+1 = 3~5 且 −1 &lt; 3 —— 温和扩张的渐长期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6B645A"/>
                </a:solidFill>
                <a:latin typeface="思源黑体"/>
              </a:rPr>
              <a:t>少阴（深秋）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：−1 = 3~5 且 +1 &lt; 3 —— 温和收敛的渐收期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808080"/>
                </a:solidFill>
                <a:latin typeface="思源黑体"/>
              </a:rPr>
              <a:t>平衡（春秋分）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：+1 &lt; 3, −1 &lt; 3, 0 &gt; 5 —— 三值均衡的中和态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A0A0A0"/>
                </a:solidFill>
                <a:latin typeface="思源黑体"/>
              </a:rPr>
              <a:t>悬置（晨雾）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：0 &gt; 6 —— 高度不确定的虚空态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B03A2E"/>
                </a:solidFill>
                <a:latin typeface="思源黑体"/>
              </a:rPr>
              <a:t>杂化（风雨）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：不满足以上任何条件 —— 矛盾交织的混沌态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季节流动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每个四象相位都有自然的演化趋势：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少阳 → 太阳（如夏）：渐长到盛放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太阳 → 少阴（如秋）：盛极转衰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少阴 → 太阴（如冬）：衰至极寒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太阴 → 少阳（如春）：极寒回暖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杂化 → 平衡（如四季调和）：混沌中寻求秩序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0">
    <p:spTree>
      <p:nvGrpSpPr>
        <p:cNvPr id="1" name=""/>
        <p:cNvGrpSpPr/>
        <p:nvPr/>
      </p:nvGrpSpPr>
      <p:grpSpPr/>
      <p:sp>
        <p:nvSpPr>
          <p:cNvPr id="2" name="AUTO::page-10::p10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算法映射：从时间到认知态</a:t>
            </a:r>
          </a:p>
        </p:txBody>
      </p:sp>
      <p:sp>
        <p:nvSpPr>
          <p:cNvPr id="3" name="AUTO::page-10::p10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Algorithm: Time → Cognitive State</a:t>
            </a:r>
          </a:p>
        </p:txBody>
      </p:sp>
      <p:sp>
        <p:nvSpPr>
          <p:cNvPr id="4" name="AUTO::page-10::p10-content"/>
          <p:cNvSpPr txBox="1"/>
          <p:nvPr/>
        </p:nvSpPr>
        <p:spPr>
          <a:xfrm>
            <a:off x="457200" y="18288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五步推算流程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1. 农历转换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：公历年月日 → 农历年月日（1900-2049 年数据表）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2. 六宫推算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：大安起正月 → 月上起日 → 日上起时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   月宫 = (月 − 1) mod 6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   日宫 = (月宫 + 日 − 1) mod 6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   时宫 = (日宫 + 时辰索引) mod 6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3. 基底映射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：六宫 → 六神三值基底（3维向量）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4. 向量合成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：月宫3维 ⊕ 日宫3维 ⊕ 时宫3维 = 九维向量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5. 状态编号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：三进制编码 Σ(vᵢ × 3ⁱ) → 0~19682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四象分类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统计九维向量中 +1/−1/0 的数量，按优先级匹配：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悬置 &gt; 太阳/太阴 &gt; 少阳/少阴 &gt; 平衡 &gt; 杂化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示例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正月初一子时：大安·大安·大安 = [+1,+1,+1,+1,+1,+1,+1,+1,+1]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→ 编号 19682，四象：太阳（盛夏古木）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二月初一子时：留连·留连·留连 = [−1,−1,−1,−1,−1,−1,−1,−1,−1]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→ 编号 0，四象：太阴（寒冬深潭）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1">
    <p:spTree>
      <p:nvGrpSpPr>
        <p:cNvPr id="1" name=""/>
        <p:cNvGrpSpPr/>
        <p:nvPr/>
      </p:nvGrpSpPr>
      <p:grpSpPr/>
      <p:sp>
        <p:nvSpPr>
          <p:cNvPr id="2" name="AUTO::page-11::p11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融合断语：大空间赋能小空间</a:t>
            </a:r>
          </a:p>
        </p:txBody>
      </p:sp>
      <p:sp>
        <p:nvSpPr>
          <p:cNvPr id="3" name="AUTO::page-11::p11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Integrated Divination: Big Space Empowering Small Space</a:t>
            </a:r>
          </a:p>
        </p:txBody>
      </p:sp>
      <p:sp>
        <p:nvSpPr>
          <p:cNvPr id="4" name="AUTO::page-11::p11-content"/>
          <p:cNvSpPr txBox="1"/>
          <p:nvPr/>
        </p:nvSpPr>
        <p:spPr>
          <a:xfrm>
            <a:off x="457200" y="18288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核心原则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不是「六宫旁边加个认知面板」的加法，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而是「九维认知结构渗透进六宫每一条断语」的深度融合。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断语生成模型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222222"/>
                </a:solidFill>
                <a:latin typeface="思源黑体"/>
              </a:rPr>
              <a:t>1. 六宫基底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：决定该领域的基本属性（大安的稳、赤口的争……）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222222"/>
                </a:solidFill>
                <a:latin typeface="思源黑体"/>
              </a:rPr>
              <a:t>2. 四象相位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：决定当前能量走向（太阳=炽烈，少阴=渐收……）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222222"/>
                </a:solidFill>
                <a:latin typeface="思源黑体"/>
              </a:rPr>
              <a:t>3. 维度张力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：主导维度 = 优势/陷阱，短板维度 = 盲区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222222"/>
                </a:solidFill>
                <a:latin typeface="思源黑体"/>
              </a:rPr>
              <a:t>4. 演化建议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：该相位的自然演化方向 + 具体行动建议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断语数量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6 宫 × 7 象 × 8 类 = 336 条融合断语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示例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大安·少阳·感情：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如古木在初春抽出嫩芽——稳定中孕育温和的生长。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你能感知到对方的温暖（觉知+），但尚未完全接纳这段关系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进入身份认同（自我识别0）。关键不是推进多少，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而是「不急着定义关系」——让生长自然发生。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 cstate="email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/>
          <p:cNvSpPr/>
          <p:nvPr/>
        </p:nvSpPr>
        <p:spPr>
          <a:xfrm rot="2683838">
            <a:off x="143426" y="1579324"/>
            <a:ext cx="1282146" cy="1282146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70341" y="-1264801"/>
            <a:ext cx="1783588" cy="1783588"/>
            <a:chOff x="637396" y="-1337487"/>
            <a:chExt cx="1783588" cy="1783588"/>
          </a:xfrm>
        </p:grpSpPr>
        <p:sp>
          <p:nvSpPr>
            <p:cNvPr id="12" name="矩形: 圆角 11"/>
            <p:cNvSpPr/>
            <p:nvPr/>
          </p:nvSpPr>
          <p:spPr>
            <a:xfrm rot="2705342">
              <a:off x="637396" y="-1337487"/>
              <a:ext cx="1783588" cy="1783588"/>
            </a:xfrm>
            <a:prstGeom prst="roundRect">
              <a:avLst>
                <a:gd name="adj" fmla="val 88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: 圆角 14"/>
            <p:cNvSpPr/>
            <p:nvPr/>
          </p:nvSpPr>
          <p:spPr>
            <a:xfrm rot="2705342">
              <a:off x="837897" y="-1136986"/>
              <a:ext cx="1382586" cy="1382586"/>
            </a:xfrm>
            <a:prstGeom prst="roundRect">
              <a:avLst>
                <a:gd name="adj" fmla="val 8843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3140205" y="3801603"/>
            <a:ext cx="5851798" cy="299715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62429" y="2777879"/>
            <a:ext cx="7867143" cy="1323439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算法映射</a:t>
            </a:r>
            <a:endParaRPr lang="en-US" altLang="zh-CN" sz="8000" b="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73839" y="4268289"/>
            <a:ext cx="5474796" cy="6177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+mn-ea"/>
                <a:cs typeface="+mn-ea"/>
                <a:sym typeface="+mn-lt"/>
              </a:rPr>
              <a:t>月日时推算 · 三值饱和运算 · 四象分类 · 融合断语生成</a:t>
            </a:r>
          </a:p>
        </p:txBody>
      </p:sp>
      <p:sp>
        <p:nvSpPr>
          <p:cNvPr id="5" name="文本框 4" descr="e7d195523061f1c0c30ee18c1b05f65d12b38e2533cb2ccdAE0CC34CB5CBEBFAEC353FED4DECE97C3E379FD1D933F5E4DC18EF8EA6B7A1130D5F6DE9DD2BE4B0A8C9126ACE5083D1F5A9E323B29CCFC723947F2A7770FFCFC0136AC2E9358C416F4A10C6952D33DA63038E460805E61AD394230B9BB5ED30CDD32E0864C96BD7869770F58DC06A0E"/>
          <p:cNvSpPr txBox="1"/>
          <p:nvPr/>
        </p:nvSpPr>
        <p:spPr>
          <a:xfrm>
            <a:off x="4863428" y="1851669"/>
            <a:ext cx="24956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n w="571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3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Part.03</a:t>
            </a:r>
          </a:p>
        </p:txBody>
      </p:sp>
      <p:sp>
        <p:nvSpPr>
          <p:cNvPr id="6" name="矩形: 圆角 5"/>
          <p:cNvSpPr/>
          <p:nvPr/>
        </p:nvSpPr>
        <p:spPr>
          <a:xfrm rot="2705342">
            <a:off x="10912202" y="5555172"/>
            <a:ext cx="792448" cy="792448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 rot="2683838">
            <a:off x="10367146" y="6607619"/>
            <a:ext cx="715805" cy="715805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 rot="2683838">
            <a:off x="11550926" y="6216928"/>
            <a:ext cx="1282146" cy="1282146"/>
          </a:xfrm>
          <a:prstGeom prst="roundRect">
            <a:avLst>
              <a:gd name="adj" fmla="val 8843"/>
            </a:avLst>
          </a:prstGeom>
          <a:noFill/>
          <a:ln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矩形: 圆角 8"/>
          <p:cNvSpPr/>
          <p:nvPr/>
        </p:nvSpPr>
        <p:spPr>
          <a:xfrm rot="2705342">
            <a:off x="11957529" y="5209349"/>
            <a:ext cx="529902" cy="529902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05342">
            <a:off x="-554763" y="-592859"/>
            <a:ext cx="2678526" cy="2678526"/>
          </a:xfrm>
          <a:prstGeom prst="roundRect">
            <a:avLst>
              <a:gd name="adj" fmla="val 8843"/>
            </a:avLst>
          </a:pr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 rot="2705342">
            <a:off x="-1368481" y="761755"/>
            <a:ext cx="1783588" cy="1783588"/>
          </a:xfrm>
          <a:prstGeom prst="roundRect">
            <a:avLst>
              <a:gd name="adj" fmla="val 884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矩形: 圆角 17"/>
          <p:cNvSpPr/>
          <p:nvPr/>
        </p:nvSpPr>
        <p:spPr>
          <a:xfrm rot="2705342">
            <a:off x="10996698" y="5639668"/>
            <a:ext cx="623457" cy="623457"/>
          </a:xfrm>
          <a:prstGeom prst="roundRect">
            <a:avLst>
              <a:gd name="adj" fmla="val 884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3">
    <p:spTree>
      <p:nvGrpSpPr>
        <p:cNvPr id="1" name=""/>
        <p:cNvGrpSpPr/>
        <p:nvPr/>
      </p:nvGrpSpPr>
      <p:grpSpPr/>
      <p:sp>
        <p:nvSpPr>
          <p:cNvPr id="2" name="AUTO::page-13::p13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APP 架构：认知占卜落地</a:t>
            </a:r>
          </a:p>
        </p:txBody>
      </p:sp>
      <p:sp>
        <p:nvSpPr>
          <p:cNvPr id="3" name="AUTO::page-13::p13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Application Architecture: Cognitive Divination on Mobile</a:t>
            </a:r>
          </a:p>
        </p:txBody>
      </p:sp>
      <p:sp>
        <p:nvSpPr>
          <p:cNvPr id="4" name="AUTO::page-13::p13-content"/>
          <p:cNvSpPr txBox="1"/>
          <p:nvPr/>
        </p:nvSpPr>
        <p:spPr>
          <a:xfrm>
            <a:off x="457200" y="1828800"/>
            <a:ext cx="54864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技术栈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单文件自包含 HTML（内联 CSS/JS/图片）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WebView 封装（Android 原生 APK）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无需网络，纯本地运行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水墨国风视觉：宣纸米白 + 墨色 + 朱砂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核心功能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即刻起卦：当前时间自动转农历起卦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择时起卦：公历四选器自动换算农历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九维星图：3×3 网格展示认知向量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四象季节：当前相位 + 演化方向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邻近星图：9 维翻转 + 可达/不可达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认知轨迹：最近 5 次起卦相位变化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择日辅助：未来 7/30 天相位预判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两层交互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简化层：卦名 + 四象标签 + 传统 8 类断语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丰富层：点击展开，九维星图 + 精准断语</a:t>
            </a:r>
          </a:p>
        </p:txBody>
      </p:sp>
      <p:sp>
        <p:nvSpPr>
          <p:cNvPr id="5" name="AUTO::page-13::p13-visual"/>
          <p:cNvSpPr/>
          <p:nvPr/>
        </p:nvSpPr>
        <p:spPr>
          <a:xfrm>
            <a:off x="6400800" y="1828800"/>
            <a:ext cx="5029200" cy="5029200"/>
          </a:xfrm>
          <a:prstGeom prst="rect">
            <a:avLst/>
          </a:prstGeom>
          <a:solidFill>
            <a:srgbClr val="CCDFEC"/>
          </a:solidFill>
          <a:ln w="25400">
            <a:solidFill>
              <a:srgbClr val="005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13::p13-v-title"/>
          <p:cNvSpPr txBox="1"/>
          <p:nvPr/>
        </p:nvSpPr>
        <p:spPr>
          <a:xfrm>
            <a:off x="685800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系统配置</a:t>
            </a:r>
          </a:p>
        </p:txBody>
      </p:sp>
      <p:sp>
        <p:nvSpPr>
          <p:cNvPr id="7" name="AUTO::page-13::p13-v-list"/>
          <p:cNvSpPr txBox="1"/>
          <p:nvPr/>
        </p:nvSpPr>
        <p:spPr>
          <a:xfrm>
            <a:off x="6858000" y="274320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5DA1"/>
                </a:solidFill>
                <a:latin typeface="思源黑体"/>
              </a:rPr>
              <a:t>Android 14 适配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5DA1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targetSdkVersion: 34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minSdkVersion: 21 (Android 5.0+)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签名方案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5DA1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v1 + v2 + v3 全启用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包信息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5DA1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包名: com.xiuqiankun.app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应用名: 袖里乾坤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版本: 1.0.0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1" i="0">
                <a:solidFill>
                  <a:srgbClr val="005DA1"/>
                </a:solidFill>
                <a:latin typeface="思源黑体"/>
              </a:rPr>
              <a:t>资源内联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5DA1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全部 base64 内联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零外部网络依赖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4">
    <p:spTree>
      <p:nvGrpSpPr>
        <p:cNvPr id="1" name=""/>
        <p:cNvGrpSpPr/>
        <p:nvPr/>
      </p:nvGrpSpPr>
      <p:grpSpPr/>
      <p:sp>
        <p:nvSpPr>
          <p:cNvPr id="2" name="AUTO::page-14::p14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功能展示：界面与交互</a:t>
            </a:r>
          </a:p>
        </p:txBody>
      </p:sp>
      <p:sp>
        <p:nvSpPr>
          <p:cNvPr id="3" name="AUTO::page-14::p14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Feature Demo: UI and Interaction</a:t>
            </a:r>
          </a:p>
        </p:txBody>
      </p:sp>
      <p:sp>
        <p:nvSpPr>
          <p:cNvPr id="4" name="AUTO::page-14::p14-content"/>
          <p:cNvSpPr txBox="1"/>
          <p:nvPr/>
        </p:nvSpPr>
        <p:spPr>
          <a:xfrm>
            <a:off x="457200" y="18288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水墨国风界面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宣纸米白底 (#F7F2E7) + 墨色主字 (#2B2B2B) + 朱砂点缀 (#B03A2E)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宋体/楷体字体栈，传统签文排版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无状态栏、无手势条干扰，沉浸式体验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简化层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卦象头部：六宫名 + 四象标签 + 状态编号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认知摘要：自然元素比喻（一行）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传统断语：8 类精简版（每类 30-50 字）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底部展开按钮：「查看认知详情 ↓」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丰富层</a:t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九维星图：3×3 网格，自然元素名称，−/0/+ 三色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四象季节：季节比喻 + 演化方向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邻近星图：中心圆 + 9 方向翻转，亮色=可达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认知洞察：100-150 字长文解读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精准断语：基于六宫×四象的动态生成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演化轨迹：最近 5 次起卦相位变化曲线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100" b="0" i="0">
                <a:solidFill>
                  <a:srgbClr val="222222"/>
                </a:solidFill>
                <a:latin typeface="思源黑体"/>
              </a:rPr>
              <a:t>• 择日辅助：未来日期认知相位预判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5">
    <p:spTree>
      <p:nvGrpSpPr>
        <p:cNvPr id="1" name=""/>
        <p:cNvGrpSpPr/>
        <p:nvPr/>
      </p:nvGrpSpPr>
      <p:grpSpPr/>
      <p:sp>
        <p:nvSpPr>
          <p:cNvPr id="2" name="AUTO::page-15::p15-title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5DA1"/>
                </a:solidFill>
                <a:latin typeface="思源黑体"/>
              </a:rPr>
              <a:t>总结与展望</a:t>
            </a:r>
          </a:p>
        </p:txBody>
      </p:sp>
      <p:sp>
        <p:nvSpPr>
          <p:cNvPr id="3" name="AUTO::page-15::p15-subtitle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08080"/>
                </a:solidFill>
                <a:latin typeface="思源黑体"/>
              </a:rPr>
              <a:t>Summary and Future Directions</a:t>
            </a:r>
          </a:p>
        </p:txBody>
      </p:sp>
      <p:sp>
        <p:nvSpPr>
          <p:cNvPr id="4" name="AUTO::page-15::p15-content"/>
          <p:cNvSpPr txBox="1"/>
          <p:nvPr/>
        </p:nvSpPr>
        <p:spPr>
          <a:xfrm>
            <a:off x="457200" y="18288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5DA1"/>
                </a:solidFill>
                <a:latin typeface="思源黑体"/>
              </a:rPr>
              <a:t>项目成果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222222"/>
                </a:solidFill>
                <a:latin typeface="思源黑体"/>
              </a:rPr>
              <a:t>• 理论层面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：将润泽「认知生命体」论文中的三值基底、九维向量、19683 空间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  与小六壬六宫体系深度融合，形成「大空间赋能小空间」的认知占卜框架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222222"/>
                </a:solidFill>
                <a:latin typeface="思源黑体"/>
              </a:rPr>
              <a:t>• 算法层面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：设计月日时→九维向量的映射算法、三值饱和运算、四象分类规则、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  336 条融合断语的动态生成机制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1" i="0">
                <a:solidFill>
                  <a:srgbClr val="222222"/>
                </a:solidFill>
                <a:latin typeface="思源黑体"/>
              </a:rPr>
              <a:t>• 应用层面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：完成「袖里乾坤」认知占卜 APP（Android APK），含九维星图、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  邻近星图、演化轨迹、择日辅助等创新功能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600" b="1" i="0">
                <a:solidFill>
                  <a:srgbClr val="005DA1"/>
                </a:solidFill>
                <a:latin typeface="思源黑体"/>
              </a:rPr>
              <a:t>未来方向</a:t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扩展六神基底：为每个宫赋予多组向量，提升可达态覆盖率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引入随机扰动：用伪随机数在标准向量上微调，增加区分度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认知演化记录：持久化存储历史轨迹，形成个人认知档案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双人对照：输入两人起卦时间，对比认知向量相似度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200" b="0" i="0">
                <a:solidFill>
                  <a:srgbClr val="222222"/>
                </a:solidFill>
                <a:latin typeface="思源黑体"/>
              </a:rPr>
              <a:t>• 跨平台适配：iOS PWA 版本，支持「添加到主屏幕」全屏运行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思源黑体"/>
              </a:rPr>
              <a:t/>
            </a:r>
            <a:r>
              <a:rPr sz="1000" b="0" i="0">
                <a:solidFill>
                  <a:srgbClr val="808080"/>
                </a:solidFill>
                <a:latin typeface="思源黑体"/>
              </a:rPr>
              <a:t>© 袖里乾坤 · 版权所有 · 润泽 ReynZE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自定义 17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DA1"/>
      </a:accent1>
      <a:accent2>
        <a:srgbClr val="00437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pxpmfnc">
      <a:majorFont>
        <a:latin typeface="思源黑体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1661</Words>
  <Application>Microsoft Macintosh PowerPoint</Application>
  <PresentationFormat>Widescreen</PresentationFormat>
  <Paragraphs>158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等线</vt:lpstr>
      <vt:lpstr>微软雅黑</vt:lpstr>
      <vt:lpstr>思源宋体 CN Heavy</vt:lpstr>
      <vt:lpstr>思源宋体 CN Light</vt:lpstr>
      <vt:lpstr>思源宋体 CN SemiBold</vt:lpstr>
      <vt:lpstr>思源黑体</vt:lpstr>
      <vt:lpstr>阿里巴巴普惠体</vt:lpstr>
      <vt:lpstr>Arial</vt:lpstr>
      <vt:lpstr>Calibri</vt:lpstr>
      <vt:lpstr>Wingdings</vt:lpstr>
      <vt:lpstr>第一PPT，www.1ppt.com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公司宣传介绍</dc:title>
  <dc:creator>第一PPT，www.1ppt.com</dc:creator>
  <cp:keywords>www.1ppt.com</cp:keywords>
  <dc:description>第一PPT</dc:description>
  <cp:lastModifiedBy>lixiangnan</cp:lastModifiedBy>
  <cp:revision>31</cp:revision>
  <dcterms:created xsi:type="dcterms:W3CDTF">2026-08-05T07:19:27Z</dcterms:created>
  <dcterms:modified xsi:type="dcterms:W3CDTF">2026-08-07T08:23:52Z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0E7A30E02F2DCD16FFE3726A558D21BD_42</vt:lpwstr>
  </property>
  <property fmtid="{D5CDD505-2E9C-101B-9397-08002B2CF9AE}" pid="3" name="KSOProductBuildVer">
    <vt:lpwstr>2052-12.1.26046.26046</vt:lpwstr>
  </property>
</Properties>
</file>